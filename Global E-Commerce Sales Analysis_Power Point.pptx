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5" d="100"/>
          <a:sy n="55" d="100"/>
        </p:scale>
        <p:origin x="964"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162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371600"/>
            <a:ext cx="7072385" cy="677108"/>
          </a:xfrm>
          <a:prstGeom prst="rect">
            <a:avLst/>
          </a:prstGeom>
          <a:noFill/>
        </p:spPr>
        <p:txBody>
          <a:bodyPr wrap="none">
            <a:spAutoFit/>
          </a:bodyPr>
          <a:lstStyle/>
          <a:p>
            <a:pPr>
              <a:defRPr sz="3800" b="1">
                <a:solidFill>
                  <a:srgbClr val="162F56"/>
                </a:solidFill>
              </a:defRPr>
            </a:pPr>
            <a:r>
              <a:rPr lang="en-US" dirty="0"/>
              <a:t>Global E-Commerce Sales Analysis</a:t>
            </a:r>
            <a:endParaRPr dirty="0"/>
          </a:p>
        </p:txBody>
      </p:sp>
      <p:sp>
        <p:nvSpPr>
          <p:cNvPr id="4" name="TextBox 3"/>
          <p:cNvSpPr txBox="1"/>
          <p:nvPr/>
        </p:nvSpPr>
        <p:spPr>
          <a:xfrm>
            <a:off x="804672" y="2229804"/>
            <a:ext cx="3394455" cy="415498"/>
          </a:xfrm>
          <a:prstGeom prst="rect">
            <a:avLst/>
          </a:prstGeom>
          <a:noFill/>
        </p:spPr>
        <p:txBody>
          <a:bodyPr wrap="none">
            <a:spAutoFit/>
          </a:bodyPr>
          <a:lstStyle/>
          <a:p>
            <a:pPr>
              <a:defRPr sz="2100">
                <a:solidFill>
                  <a:srgbClr val="5F6978"/>
                </a:solidFill>
              </a:defRPr>
            </a:pPr>
            <a:r>
              <a:rPr dirty="0"/>
              <a:t>Data Analyst Portfolio Project</a:t>
            </a:r>
          </a:p>
        </p:txBody>
      </p:sp>
      <p:sp>
        <p:nvSpPr>
          <p:cNvPr id="5" name="Rounded Rectangle 4"/>
          <p:cNvSpPr/>
          <p:nvPr/>
        </p:nvSpPr>
        <p:spPr>
          <a:xfrm>
            <a:off x="822960" y="3886200"/>
            <a:ext cx="3200400" cy="105156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Python</a:t>
            </a:r>
          </a:p>
          <a:p>
            <a:pPr algn="just">
              <a:spcBef>
                <a:spcPts val="700"/>
              </a:spcBef>
              <a:defRPr sz="1050">
                <a:solidFill>
                  <a:srgbClr val="1E2128"/>
                </a:solidFill>
              </a:defRPr>
            </a:pPr>
            <a:r>
              <a:rPr dirty="0"/>
              <a:t>Data cleaning, feature engineering &amp; exploratory data analysis</a:t>
            </a:r>
          </a:p>
        </p:txBody>
      </p:sp>
      <p:sp>
        <p:nvSpPr>
          <p:cNvPr id="6" name="Rounded Rectangle 5"/>
          <p:cNvSpPr/>
          <p:nvPr/>
        </p:nvSpPr>
        <p:spPr>
          <a:xfrm>
            <a:off x="4480560" y="3886200"/>
            <a:ext cx="3200400" cy="105156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Power BI</a:t>
            </a:r>
          </a:p>
          <a:p>
            <a:pPr algn="just">
              <a:spcBef>
                <a:spcPts val="700"/>
              </a:spcBef>
              <a:defRPr sz="1050">
                <a:solidFill>
                  <a:srgbClr val="1E2128"/>
                </a:solidFill>
              </a:defRPr>
            </a:pPr>
            <a:r>
              <a:rPr dirty="0"/>
              <a:t>Interactive attrition dashboard &amp; business insights</a:t>
            </a:r>
          </a:p>
        </p:txBody>
      </p:sp>
      <p:sp>
        <p:nvSpPr>
          <p:cNvPr id="7" name="Rounded Rectangle 6"/>
          <p:cNvSpPr/>
          <p:nvPr/>
        </p:nvSpPr>
        <p:spPr>
          <a:xfrm>
            <a:off x="8138160" y="3886200"/>
            <a:ext cx="3200400" cy="1051560"/>
          </a:xfrm>
          <a:prstGeom prst="roundRect">
            <a:avLst/>
          </a:prstGeom>
          <a:solidFill>
            <a:srgbClr val="FCE7D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Excel</a:t>
            </a:r>
          </a:p>
          <a:p>
            <a:pPr algn="just">
              <a:spcBef>
                <a:spcPts val="700"/>
              </a:spcBef>
              <a:defRPr sz="1050">
                <a:solidFill>
                  <a:srgbClr val="1E2128"/>
                </a:solidFill>
              </a:defRPr>
            </a:pPr>
            <a:r>
              <a:rPr dirty="0"/>
              <a:t>Pivot analysis, slicers &amp; interactive dashboard</a:t>
            </a:r>
          </a:p>
        </p:txBody>
      </p:sp>
      <p:sp>
        <p:nvSpPr>
          <p:cNvPr id="8" name="TextBox 7"/>
          <p:cNvSpPr txBox="1"/>
          <p:nvPr/>
        </p:nvSpPr>
        <p:spPr>
          <a:xfrm>
            <a:off x="822960" y="5806440"/>
            <a:ext cx="6400800" cy="320040"/>
          </a:xfrm>
          <a:prstGeom prst="rect">
            <a:avLst/>
          </a:prstGeom>
          <a:noFill/>
        </p:spPr>
        <p:txBody>
          <a:bodyPr wrap="none">
            <a:spAutoFit/>
          </a:bodyPr>
          <a:lstStyle/>
          <a:p>
            <a:pPr>
              <a:defRPr sz="1100">
                <a:solidFill>
                  <a:srgbClr val="5F6978"/>
                </a:solidFill>
              </a:defRPr>
            </a:pPr>
            <a:r>
              <a:t>Portfolio Presentation • Data Analyst</a:t>
            </a:r>
          </a:p>
        </p:txBody>
      </p:sp>
      <p:sp>
        <p:nvSpPr>
          <p:cNvPr id="10" name="TextBox 9">
            <a:extLst>
              <a:ext uri="{FF2B5EF4-FFF2-40B4-BE49-F238E27FC236}">
                <a16:creationId xmlns:a16="http://schemas.microsoft.com/office/drawing/2014/main" id="{EB6F1219-29C8-A27A-3F05-A59E00ACD23A}"/>
              </a:ext>
            </a:extLst>
          </p:cNvPr>
          <p:cNvSpPr txBox="1"/>
          <p:nvPr/>
        </p:nvSpPr>
        <p:spPr>
          <a:xfrm>
            <a:off x="777240" y="2645302"/>
            <a:ext cx="8973547" cy="1061829"/>
          </a:xfrm>
          <a:prstGeom prst="rect">
            <a:avLst/>
          </a:prstGeom>
          <a:noFill/>
        </p:spPr>
        <p:txBody>
          <a:bodyPr wrap="none">
            <a:spAutoFit/>
          </a:bodyPr>
          <a:lstStyle/>
          <a:p>
            <a:pPr>
              <a:defRPr sz="2100">
                <a:solidFill>
                  <a:srgbClr val="5F6978"/>
                </a:solidFill>
              </a:defRPr>
            </a:pPr>
            <a:r>
              <a:rPr lang="en-US" dirty="0"/>
              <a:t>Delia Dwi Anjani</a:t>
            </a:r>
          </a:p>
          <a:p>
            <a:pPr>
              <a:defRPr sz="2100">
                <a:solidFill>
                  <a:srgbClr val="5F6978"/>
                </a:solidFill>
              </a:defRPr>
            </a:pPr>
            <a:r>
              <a:rPr lang="en-US" dirty="0" err="1"/>
              <a:t>Linkedin</a:t>
            </a:r>
            <a:r>
              <a:rPr lang="en-US" dirty="0"/>
              <a:t> : Delia Dwi Anjani</a:t>
            </a:r>
          </a:p>
          <a:p>
            <a:pPr>
              <a:defRPr sz="2100">
                <a:solidFill>
                  <a:srgbClr val="5F6978"/>
                </a:solidFill>
              </a:defRPr>
            </a:pPr>
            <a:r>
              <a:rPr lang="en-US" dirty="0" err="1"/>
              <a:t>Github</a:t>
            </a:r>
            <a:r>
              <a:rPr lang="en-US" dirty="0"/>
              <a:t> : </a:t>
            </a:r>
            <a:r>
              <a:rPr lang="en-US" u="sng" dirty="0">
                <a:solidFill>
                  <a:schemeClr val="tx2"/>
                </a:solidFill>
              </a:rPr>
              <a:t>https://github.com/Delia-Dwi-Anjani/Project_Global-E-Commerce-Sales</a:t>
            </a:r>
            <a:endParaRPr u="sng"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Project Overview</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Structure of the analysis from business problem to recommendation</a:t>
            </a:r>
          </a:p>
        </p:txBody>
      </p:sp>
      <p:sp>
        <p:nvSpPr>
          <p:cNvPr id="4" name="Rounded Rectangle 3"/>
          <p:cNvSpPr/>
          <p:nvPr/>
        </p:nvSpPr>
        <p:spPr>
          <a:xfrm>
            <a:off x="685800" y="1417320"/>
            <a:ext cx="3429000" cy="150876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01  Business Context</a:t>
            </a:r>
          </a:p>
          <a:p>
            <a:pPr algn="ctr">
              <a:spcBef>
                <a:spcPts val="700"/>
              </a:spcBef>
              <a:defRPr sz="1050">
                <a:solidFill>
                  <a:srgbClr val="1E2128"/>
                </a:solidFill>
              </a:defRPr>
            </a:pPr>
            <a:r>
              <a:rPr dirty="0"/>
              <a:t>Background, problem, objectives</a:t>
            </a:r>
          </a:p>
        </p:txBody>
      </p:sp>
      <p:sp>
        <p:nvSpPr>
          <p:cNvPr id="5" name="Rounded Rectangle 4"/>
          <p:cNvSpPr/>
          <p:nvPr/>
        </p:nvSpPr>
        <p:spPr>
          <a:xfrm>
            <a:off x="4480560" y="1417320"/>
            <a:ext cx="3429000" cy="150876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02  Dataset &amp; Preparation</a:t>
            </a:r>
          </a:p>
          <a:p>
            <a:pPr algn="ctr">
              <a:spcBef>
                <a:spcPts val="700"/>
              </a:spcBef>
              <a:defRPr sz="1050">
                <a:solidFill>
                  <a:srgbClr val="1E2128"/>
                </a:solidFill>
              </a:defRPr>
            </a:pPr>
            <a:r>
              <a:rPr dirty="0"/>
              <a:t>Data understanding, cleaning, feature engineering</a:t>
            </a:r>
          </a:p>
        </p:txBody>
      </p:sp>
      <p:sp>
        <p:nvSpPr>
          <p:cNvPr id="6" name="Rounded Rectangle 5"/>
          <p:cNvSpPr/>
          <p:nvPr/>
        </p:nvSpPr>
        <p:spPr>
          <a:xfrm>
            <a:off x="8275320" y="1417320"/>
            <a:ext cx="3429000" cy="1508760"/>
          </a:xfrm>
          <a:prstGeom prst="roundRect">
            <a:avLst/>
          </a:prstGeom>
          <a:solidFill>
            <a:srgbClr val="FCE7D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03  EDA in Python</a:t>
            </a:r>
          </a:p>
          <a:p>
            <a:pPr algn="ctr">
              <a:spcBef>
                <a:spcPts val="700"/>
              </a:spcBef>
              <a:defRPr sz="1050">
                <a:solidFill>
                  <a:srgbClr val="1E2128"/>
                </a:solidFill>
              </a:defRPr>
            </a:pPr>
            <a:r>
              <a:rPr dirty="0"/>
              <a:t>Patterns and factors associated with attrition</a:t>
            </a:r>
          </a:p>
        </p:txBody>
      </p:sp>
      <p:sp>
        <p:nvSpPr>
          <p:cNvPr id="7" name="Rounded Rectangle 6"/>
          <p:cNvSpPr/>
          <p:nvPr/>
        </p:nvSpPr>
        <p:spPr>
          <a:xfrm>
            <a:off x="685800" y="3474720"/>
            <a:ext cx="3429000" cy="1508760"/>
          </a:xfrm>
          <a:prstGeom prst="roundRect">
            <a:avLst/>
          </a:prstGeom>
          <a:solidFill>
            <a:srgbClr val="EAE4F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04  Power BI Dashboard</a:t>
            </a:r>
          </a:p>
          <a:p>
            <a:pPr algn="ctr">
              <a:spcBef>
                <a:spcPts val="700"/>
              </a:spcBef>
              <a:defRPr sz="1050">
                <a:solidFill>
                  <a:srgbClr val="1E2128"/>
                </a:solidFill>
              </a:defRPr>
            </a:pPr>
            <a:r>
              <a:rPr dirty="0"/>
              <a:t>Interactive visual analysis and KPIs</a:t>
            </a:r>
          </a:p>
        </p:txBody>
      </p:sp>
      <p:sp>
        <p:nvSpPr>
          <p:cNvPr id="8" name="Rounded Rectangle 7"/>
          <p:cNvSpPr/>
          <p:nvPr/>
        </p:nvSpPr>
        <p:spPr>
          <a:xfrm>
            <a:off x="4480560" y="3474720"/>
            <a:ext cx="3429000" cy="150876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05  Excel Dashboard</a:t>
            </a:r>
          </a:p>
          <a:p>
            <a:pPr algn="ctr">
              <a:spcBef>
                <a:spcPts val="700"/>
              </a:spcBef>
              <a:defRPr sz="1050">
                <a:solidFill>
                  <a:srgbClr val="1E2128"/>
                </a:solidFill>
              </a:defRPr>
            </a:pPr>
            <a:r>
              <a:rPr dirty="0"/>
              <a:t>Pivot-based dashboard with slicers</a:t>
            </a:r>
          </a:p>
        </p:txBody>
      </p:sp>
      <p:sp>
        <p:nvSpPr>
          <p:cNvPr id="9" name="Rounded Rectangle 8"/>
          <p:cNvSpPr/>
          <p:nvPr/>
        </p:nvSpPr>
        <p:spPr>
          <a:xfrm>
            <a:off x="8275320" y="3474720"/>
            <a:ext cx="3429000" cy="150876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06  Insights &amp; Recommendations</a:t>
            </a:r>
          </a:p>
          <a:p>
            <a:pPr algn="ctr">
              <a:spcBef>
                <a:spcPts val="700"/>
              </a:spcBef>
              <a:defRPr sz="1050">
                <a:solidFill>
                  <a:srgbClr val="1E2128"/>
                </a:solidFill>
              </a:defRPr>
            </a:pPr>
            <a:r>
              <a:rPr dirty="0"/>
              <a:t>Key findings, business implications, next steps</a:t>
            </a:r>
          </a:p>
        </p:txBody>
      </p:sp>
      <p:sp>
        <p:nvSpPr>
          <p:cNvPr id="10" name="Rectangle 9"/>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1. Business Background</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rPr dirty="0"/>
              <a:t>Why employee attrition matters</a:t>
            </a:r>
          </a:p>
        </p:txBody>
      </p:sp>
      <p:sp>
        <p:nvSpPr>
          <p:cNvPr id="4" name="TextBox 3"/>
          <p:cNvSpPr txBox="1"/>
          <p:nvPr/>
        </p:nvSpPr>
        <p:spPr>
          <a:xfrm>
            <a:off x="731520" y="1247989"/>
            <a:ext cx="10579608" cy="923330"/>
          </a:xfrm>
          <a:prstGeom prst="rect">
            <a:avLst/>
          </a:prstGeom>
          <a:noFill/>
        </p:spPr>
        <p:txBody>
          <a:bodyPr wrap="square">
            <a:spAutoFit/>
          </a:bodyPr>
          <a:lstStyle/>
          <a:p>
            <a:pPr algn="just"/>
            <a:r>
              <a:rPr lang="en-ID" dirty="0"/>
              <a:t>The global e-commerce industry operates in a highly competitive environment where businesses must continuously monitor sales performance, customer purchasing </a:t>
            </a:r>
            <a:r>
              <a:rPr lang="en-ID" dirty="0" err="1"/>
              <a:t>behavior</a:t>
            </a:r>
            <a:r>
              <a:rPr lang="en-ID" dirty="0"/>
              <a:t>, and profitability to maintain sustainable growth.</a:t>
            </a:r>
          </a:p>
        </p:txBody>
      </p:sp>
      <p:sp>
        <p:nvSpPr>
          <p:cNvPr id="6" name="Rectangle 5"/>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3</a:t>
            </a:r>
          </a:p>
        </p:txBody>
      </p:sp>
      <p:sp>
        <p:nvSpPr>
          <p:cNvPr id="11" name="TextBox 10">
            <a:extLst>
              <a:ext uri="{FF2B5EF4-FFF2-40B4-BE49-F238E27FC236}">
                <a16:creationId xmlns:a16="http://schemas.microsoft.com/office/drawing/2014/main" id="{3DC992BE-CD73-5243-87F5-CE19CF96EA3A}"/>
              </a:ext>
            </a:extLst>
          </p:cNvPr>
          <p:cNvSpPr txBox="1"/>
          <p:nvPr/>
        </p:nvSpPr>
        <p:spPr>
          <a:xfrm>
            <a:off x="731520" y="2094191"/>
            <a:ext cx="5154930" cy="3970318"/>
          </a:xfrm>
          <a:prstGeom prst="rect">
            <a:avLst/>
          </a:prstGeom>
          <a:noFill/>
        </p:spPr>
        <p:txBody>
          <a:bodyPr wrap="square">
            <a:spAutoFit/>
          </a:bodyPr>
          <a:lstStyle/>
          <a:p>
            <a:pPr algn="just"/>
            <a:r>
              <a:rPr lang="en-ID" dirty="0"/>
              <a:t>Although high sales revenue indicates strong market demand, it does not always translate into higher profitability. Factors such as product performance, discount strategies, shipping costs, and regional differences can significantly affect business outcomes.</a:t>
            </a:r>
          </a:p>
          <a:p>
            <a:pPr algn="just"/>
            <a:r>
              <a:rPr lang="en-ID" dirty="0"/>
              <a:t>Therefore, a data-driven approach is essential to identify sales patterns, evaluate product and customer performance, and uncover opportunities for improving operational efficiency and profitability.</a:t>
            </a:r>
          </a:p>
          <a:p>
            <a:pPr algn="just"/>
            <a:r>
              <a:rPr lang="en-ID" dirty="0"/>
              <a:t>This project </a:t>
            </a:r>
            <a:r>
              <a:rPr lang="en-ID" dirty="0" err="1"/>
              <a:t>analyzes</a:t>
            </a:r>
            <a:r>
              <a:rPr lang="en-ID" dirty="0"/>
              <a:t> global e-commerce transaction data to transform raw business information into actionable insights that support strategic decision-making.</a:t>
            </a:r>
          </a:p>
        </p:txBody>
      </p:sp>
      <p:pic>
        <p:nvPicPr>
          <p:cNvPr id="8" name="Picture 7">
            <a:extLst>
              <a:ext uri="{FF2B5EF4-FFF2-40B4-BE49-F238E27FC236}">
                <a16:creationId xmlns:a16="http://schemas.microsoft.com/office/drawing/2014/main" id="{36EB58F6-897E-9E55-488D-CD14A833B5E6}"/>
              </a:ext>
            </a:extLst>
          </p:cNvPr>
          <p:cNvPicPr>
            <a:picLocks noChangeAspect="1"/>
          </p:cNvPicPr>
          <p:nvPr/>
        </p:nvPicPr>
        <p:blipFill>
          <a:blip r:embed="rId2"/>
          <a:stretch>
            <a:fillRect/>
          </a:stretch>
        </p:blipFill>
        <p:spPr>
          <a:xfrm>
            <a:off x="5999737" y="2171319"/>
            <a:ext cx="5567423" cy="31316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2. Business Problem &amp; Objectives</a:t>
            </a:r>
          </a:p>
        </p:txBody>
      </p:sp>
      <p:sp>
        <p:nvSpPr>
          <p:cNvPr id="3" name="Rounded Rectangle 2"/>
          <p:cNvSpPr/>
          <p:nvPr/>
        </p:nvSpPr>
        <p:spPr>
          <a:xfrm>
            <a:off x="685800" y="941832"/>
            <a:ext cx="5303520" cy="4910328"/>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r>
              <a:rPr lang="en-ID" sz="1600" b="1" dirty="0">
                <a:solidFill>
                  <a:schemeClr val="tx1"/>
                </a:solidFill>
              </a:rPr>
              <a:t>Business Problem</a:t>
            </a:r>
          </a:p>
          <a:p>
            <a:pPr algn="just">
              <a:defRPr sz="1400" b="1">
                <a:solidFill>
                  <a:srgbClr val="162F56"/>
                </a:solidFill>
              </a:defRPr>
            </a:pPr>
            <a:endParaRPr lang="en-US" sz="1400" dirty="0">
              <a:solidFill>
                <a:schemeClr val="tx1"/>
              </a:solidFill>
            </a:endParaRPr>
          </a:p>
          <a:p>
            <a:pPr marL="285750" lvl="0" indent="-285750" algn="just">
              <a:buFont typeface="Arial" panose="020B0604020202020204" pitchFamily="34" charset="0"/>
              <a:buChar char="•"/>
            </a:pPr>
            <a:r>
              <a:rPr lang="en-ID" sz="1400" dirty="0">
                <a:solidFill>
                  <a:schemeClr val="tx1"/>
                </a:solidFill>
              </a:rPr>
              <a:t>Sales Performance: Limited visibility into sales trends and fluctuations across different periods.</a:t>
            </a:r>
          </a:p>
          <a:p>
            <a:pPr marL="285750" lvl="0" indent="-285750" algn="just">
              <a:buFont typeface="Arial" panose="020B0604020202020204" pitchFamily="34" charset="0"/>
              <a:buChar char="•"/>
            </a:pPr>
            <a:r>
              <a:rPr lang="en-ID" sz="1400" dirty="0">
                <a:solidFill>
                  <a:schemeClr val="tx1"/>
                </a:solidFill>
              </a:rPr>
              <a:t>Product Profitability: Uncertainty about which products and categories generate the highest revenue and profit.</a:t>
            </a:r>
          </a:p>
          <a:p>
            <a:pPr marL="285750" lvl="0" indent="-285750" algn="just">
              <a:buFont typeface="Arial" panose="020B0604020202020204" pitchFamily="34" charset="0"/>
              <a:buChar char="•"/>
            </a:pPr>
            <a:r>
              <a:rPr lang="en-ID" sz="1400" dirty="0">
                <a:solidFill>
                  <a:schemeClr val="tx1"/>
                </a:solidFill>
              </a:rPr>
              <a:t>Customer Performance: Insufficient understanding of customer segments and their contribution to overall sales.</a:t>
            </a:r>
          </a:p>
          <a:p>
            <a:pPr marL="285750" lvl="0" indent="-285750" algn="just">
              <a:buFont typeface="Arial" panose="020B0604020202020204" pitchFamily="34" charset="0"/>
              <a:buChar char="•"/>
            </a:pPr>
            <a:r>
              <a:rPr lang="en-ID" sz="1400" dirty="0">
                <a:solidFill>
                  <a:schemeClr val="tx1"/>
                </a:solidFill>
              </a:rPr>
              <a:t>Regional Performance: Differences in sales and profitability across countries and regions require further evaluation.</a:t>
            </a:r>
          </a:p>
          <a:p>
            <a:pPr marL="285750" lvl="0" indent="-285750" algn="just">
              <a:buFont typeface="Arial" panose="020B0604020202020204" pitchFamily="34" charset="0"/>
              <a:buChar char="•"/>
            </a:pPr>
            <a:r>
              <a:rPr lang="en-ID" sz="1400" dirty="0">
                <a:solidFill>
                  <a:schemeClr val="tx1"/>
                </a:solidFill>
              </a:rPr>
              <a:t>Discount &amp; Shipping Costs: The relationship between discount levels, shipping costs, and profitability needs to be assessed.</a:t>
            </a:r>
          </a:p>
          <a:p>
            <a:pPr algn="just">
              <a:defRPr sz="1400" b="1">
                <a:solidFill>
                  <a:srgbClr val="162F56"/>
                </a:solidFill>
              </a:defRPr>
            </a:pPr>
            <a:endParaRPr sz="1400" dirty="0">
              <a:solidFill>
                <a:schemeClr val="tx1"/>
              </a:solidFill>
            </a:endParaRPr>
          </a:p>
        </p:txBody>
      </p:sp>
      <p:sp>
        <p:nvSpPr>
          <p:cNvPr id="4" name="Rounded Rectangle 3"/>
          <p:cNvSpPr/>
          <p:nvPr/>
        </p:nvSpPr>
        <p:spPr>
          <a:xfrm>
            <a:off x="6217920" y="941832"/>
            <a:ext cx="5303520" cy="4910328"/>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r>
              <a:rPr lang="en-ID" sz="1600" b="1" dirty="0">
                <a:solidFill>
                  <a:schemeClr val="tx1"/>
                </a:solidFill>
              </a:rPr>
              <a:t>Analysis Objectives</a:t>
            </a:r>
          </a:p>
          <a:p>
            <a:pPr algn="ctr"/>
            <a:endParaRPr lang="en-ID" sz="1400" b="1" dirty="0">
              <a:solidFill>
                <a:schemeClr val="tx1"/>
              </a:solidFill>
            </a:endParaRPr>
          </a:p>
          <a:p>
            <a:pPr marL="285750" lvl="0" indent="-285750" algn="just">
              <a:buFont typeface="Arial" panose="020B0604020202020204" pitchFamily="34" charset="0"/>
              <a:buChar char="•"/>
            </a:pPr>
            <a:r>
              <a:rPr lang="en-ID" sz="1400" dirty="0">
                <a:solidFill>
                  <a:schemeClr val="tx1"/>
                </a:solidFill>
              </a:rPr>
              <a:t>Evaluate Sales Performance: Identify sales trends, revenue patterns, and key business performance indicators.</a:t>
            </a:r>
          </a:p>
          <a:p>
            <a:pPr marL="285750" lvl="0" indent="-285750" algn="just">
              <a:buFont typeface="Arial" panose="020B0604020202020204" pitchFamily="34" charset="0"/>
              <a:buChar char="•"/>
            </a:pPr>
            <a:r>
              <a:rPr lang="en-ID" sz="1400" dirty="0">
                <a:solidFill>
                  <a:schemeClr val="tx1"/>
                </a:solidFill>
              </a:rPr>
              <a:t>Assess Product Profitability: Determine top-performing products and categories based on sales, profit, and profit margin.</a:t>
            </a:r>
          </a:p>
          <a:p>
            <a:pPr marL="285750" lvl="0" indent="-285750" algn="just">
              <a:buFont typeface="Arial" panose="020B0604020202020204" pitchFamily="34" charset="0"/>
              <a:buChar char="•"/>
            </a:pPr>
            <a:r>
              <a:rPr lang="en-ID" sz="1400" dirty="0" err="1">
                <a:solidFill>
                  <a:schemeClr val="tx1"/>
                </a:solidFill>
              </a:rPr>
              <a:t>Analyze</a:t>
            </a:r>
            <a:r>
              <a:rPr lang="en-ID" sz="1400" dirty="0">
                <a:solidFill>
                  <a:schemeClr val="tx1"/>
                </a:solidFill>
              </a:rPr>
              <a:t> Customer </a:t>
            </a:r>
            <a:r>
              <a:rPr lang="en-ID" sz="1400" dirty="0" err="1">
                <a:solidFill>
                  <a:schemeClr val="tx1"/>
                </a:solidFill>
              </a:rPr>
              <a:t>Behavior</a:t>
            </a:r>
            <a:r>
              <a:rPr lang="en-ID" sz="1400" dirty="0">
                <a:solidFill>
                  <a:schemeClr val="tx1"/>
                </a:solidFill>
              </a:rPr>
              <a:t>: Evaluate customer segments, purchasing patterns, and average order value.</a:t>
            </a:r>
          </a:p>
          <a:p>
            <a:pPr marL="285750" lvl="0" indent="-285750" algn="just">
              <a:buFont typeface="Arial" panose="020B0604020202020204" pitchFamily="34" charset="0"/>
              <a:buChar char="•"/>
            </a:pPr>
            <a:r>
              <a:rPr lang="en-ID" sz="1400" dirty="0">
                <a:solidFill>
                  <a:schemeClr val="tx1"/>
                </a:solidFill>
              </a:rPr>
              <a:t>Identify Market Opportunities: Compare regional and country-level performance to identify potential growth opportunities.</a:t>
            </a:r>
          </a:p>
          <a:p>
            <a:pPr marL="285750" lvl="0" indent="-285750" algn="just">
              <a:buFont typeface="Arial" panose="020B0604020202020204" pitchFamily="34" charset="0"/>
              <a:buChar char="•"/>
            </a:pPr>
            <a:r>
              <a:rPr lang="en-ID" sz="1400" dirty="0">
                <a:solidFill>
                  <a:schemeClr val="tx1"/>
                </a:solidFill>
              </a:rPr>
              <a:t>Support Profitability Optimization: Examine discount and shipping cost patterns to develop data-driven business recommendations.</a:t>
            </a:r>
          </a:p>
        </p:txBody>
      </p:sp>
      <p:sp>
        <p:nvSpPr>
          <p:cNvPr id="5" name="Rectangle 4"/>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3. Dataset Overview</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HR employee-level dataset used for attrition analysis</a:t>
            </a:r>
          </a:p>
        </p:txBody>
      </p:sp>
      <p:sp>
        <p:nvSpPr>
          <p:cNvPr id="10" name="TextBox 9"/>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5</a:t>
            </a:r>
          </a:p>
        </p:txBody>
      </p:sp>
      <p:pic>
        <p:nvPicPr>
          <p:cNvPr id="5" name="Picture 4">
            <a:extLst>
              <a:ext uri="{FF2B5EF4-FFF2-40B4-BE49-F238E27FC236}">
                <a16:creationId xmlns:a16="http://schemas.microsoft.com/office/drawing/2014/main" id="{04671728-A4AA-DF1B-2A6E-0721AEC6ED95}"/>
              </a:ext>
            </a:extLst>
          </p:cNvPr>
          <p:cNvPicPr>
            <a:picLocks noChangeAspect="1"/>
          </p:cNvPicPr>
          <p:nvPr/>
        </p:nvPicPr>
        <p:blipFill>
          <a:blip r:embed="rId2"/>
          <a:stretch>
            <a:fillRect/>
          </a:stretch>
        </p:blipFill>
        <p:spPr>
          <a:xfrm>
            <a:off x="1805019" y="1330790"/>
            <a:ext cx="4290981" cy="2413677"/>
          </a:xfrm>
          <a:prstGeom prst="rect">
            <a:avLst/>
          </a:prstGeom>
        </p:spPr>
      </p:pic>
      <p:pic>
        <p:nvPicPr>
          <p:cNvPr id="7" name="Picture 6">
            <a:extLst>
              <a:ext uri="{FF2B5EF4-FFF2-40B4-BE49-F238E27FC236}">
                <a16:creationId xmlns:a16="http://schemas.microsoft.com/office/drawing/2014/main" id="{52660170-EF3E-7522-E969-EB66A228D71E}"/>
              </a:ext>
            </a:extLst>
          </p:cNvPr>
          <p:cNvPicPr>
            <a:picLocks noChangeAspect="1"/>
          </p:cNvPicPr>
          <p:nvPr/>
        </p:nvPicPr>
        <p:blipFill>
          <a:blip r:embed="rId3"/>
          <a:stretch>
            <a:fillRect/>
          </a:stretch>
        </p:blipFill>
        <p:spPr>
          <a:xfrm>
            <a:off x="6340106" y="1330790"/>
            <a:ext cx="4290983" cy="2413678"/>
          </a:xfrm>
          <a:prstGeom prst="rect">
            <a:avLst/>
          </a:prstGeom>
        </p:spPr>
      </p:pic>
      <p:pic>
        <p:nvPicPr>
          <p:cNvPr id="9" name="Picture 8">
            <a:extLst>
              <a:ext uri="{FF2B5EF4-FFF2-40B4-BE49-F238E27FC236}">
                <a16:creationId xmlns:a16="http://schemas.microsoft.com/office/drawing/2014/main" id="{019180B4-4C19-EBD2-4502-4BDCDB1EFA35}"/>
              </a:ext>
            </a:extLst>
          </p:cNvPr>
          <p:cNvPicPr>
            <a:picLocks noChangeAspect="1"/>
          </p:cNvPicPr>
          <p:nvPr/>
        </p:nvPicPr>
        <p:blipFill>
          <a:blip r:embed="rId4"/>
          <a:stretch>
            <a:fillRect/>
          </a:stretch>
        </p:blipFill>
        <p:spPr>
          <a:xfrm>
            <a:off x="1805019" y="3885864"/>
            <a:ext cx="4290981" cy="2413677"/>
          </a:xfrm>
          <a:prstGeom prst="rect">
            <a:avLst/>
          </a:prstGeom>
        </p:spPr>
      </p:pic>
      <p:pic>
        <p:nvPicPr>
          <p:cNvPr id="12" name="Picture 11">
            <a:extLst>
              <a:ext uri="{FF2B5EF4-FFF2-40B4-BE49-F238E27FC236}">
                <a16:creationId xmlns:a16="http://schemas.microsoft.com/office/drawing/2014/main" id="{0C27DE33-D920-5A91-B130-DDA98B8A8DA1}"/>
              </a:ext>
            </a:extLst>
          </p:cNvPr>
          <p:cNvPicPr>
            <a:picLocks noChangeAspect="1"/>
          </p:cNvPicPr>
          <p:nvPr/>
        </p:nvPicPr>
        <p:blipFill>
          <a:blip r:embed="rId5"/>
          <a:stretch>
            <a:fillRect/>
          </a:stretch>
        </p:blipFill>
        <p:spPr>
          <a:xfrm>
            <a:off x="6340105" y="3885864"/>
            <a:ext cx="4290983" cy="24136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4. Data Cleaning &amp; Preparation</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Python workflow before visualization</a:t>
            </a:r>
          </a:p>
        </p:txBody>
      </p:sp>
      <p:sp>
        <p:nvSpPr>
          <p:cNvPr id="4" name="TextBox 3"/>
          <p:cNvSpPr txBox="1"/>
          <p:nvPr/>
        </p:nvSpPr>
        <p:spPr>
          <a:xfrm>
            <a:off x="685799" y="1371600"/>
            <a:ext cx="6053667" cy="4185761"/>
          </a:xfrm>
          <a:prstGeom prst="rect">
            <a:avLst/>
          </a:prstGeom>
          <a:noFill/>
        </p:spPr>
        <p:txBody>
          <a:bodyPr wrap="square">
            <a:spAutoFit/>
          </a:bodyPr>
          <a:lstStyle/>
          <a:p>
            <a:pPr marL="342900" indent="-342900" algn="just">
              <a:buAutoNum type="arabicPeriod"/>
            </a:pPr>
            <a:r>
              <a:rPr lang="en-US" sz="1400" b="1" dirty="0"/>
              <a:t>Data Quality </a:t>
            </a:r>
            <a:r>
              <a:rPr lang="en-US" sz="1400" b="1" dirty="0" err="1"/>
              <a:t>Assesment</a:t>
            </a:r>
            <a:endParaRPr lang="en-US" sz="1400" b="1" dirty="0"/>
          </a:p>
          <a:p>
            <a:pPr marL="285750" lvl="0" indent="-285750" algn="just">
              <a:buFont typeface="Arial" panose="020B0604020202020204" pitchFamily="34" charset="0"/>
              <a:buChar char="•"/>
            </a:pPr>
            <a:r>
              <a:rPr lang="en-ID" sz="1400" dirty="0"/>
              <a:t>Inspected dataset structure, data types, and missing values.</a:t>
            </a:r>
          </a:p>
          <a:p>
            <a:pPr marL="285750" lvl="0" indent="-285750" algn="just">
              <a:buFont typeface="Arial" panose="020B0604020202020204" pitchFamily="34" charset="0"/>
              <a:buChar char="•"/>
            </a:pPr>
            <a:r>
              <a:rPr lang="en-ID" sz="1400" dirty="0"/>
              <a:t>Identified duplicate records and potential data inconsistencies.</a:t>
            </a:r>
          </a:p>
          <a:p>
            <a:pPr marL="285750" lvl="0" indent="-285750" algn="just">
              <a:buFont typeface="Arial" panose="020B0604020202020204" pitchFamily="34" charset="0"/>
              <a:buChar char="•"/>
            </a:pPr>
            <a:endParaRPr lang="en-ID" sz="1400" dirty="0"/>
          </a:p>
          <a:p>
            <a:pPr lvl="0" algn="just"/>
            <a:r>
              <a:rPr lang="en-ID" sz="1400" b="1" dirty="0"/>
              <a:t>2. Data </a:t>
            </a:r>
            <a:r>
              <a:rPr lang="en-ID" sz="1400" b="1" dirty="0" err="1"/>
              <a:t>Clenaning</a:t>
            </a:r>
            <a:endParaRPr lang="en-ID" sz="1400" b="1" dirty="0"/>
          </a:p>
          <a:p>
            <a:pPr marL="285750" lvl="0" indent="-285750" algn="just">
              <a:buFont typeface="Arial" panose="020B0604020202020204" pitchFamily="34" charset="0"/>
              <a:buChar char="•"/>
            </a:pPr>
            <a:r>
              <a:rPr lang="en-ID" sz="1400" dirty="0"/>
              <a:t>Standardized data formats and corrected data types.</a:t>
            </a:r>
          </a:p>
          <a:p>
            <a:pPr marL="285750" lvl="0" indent="-285750" algn="just">
              <a:buFont typeface="Arial" panose="020B0604020202020204" pitchFamily="34" charset="0"/>
              <a:buChar char="•"/>
            </a:pPr>
            <a:r>
              <a:rPr lang="en-ID" sz="1400" dirty="0"/>
              <a:t>Reviewed missing values and validated numerical data.</a:t>
            </a:r>
          </a:p>
          <a:p>
            <a:pPr marL="285750" lvl="0" indent="-285750" algn="just">
              <a:buFont typeface="Arial" panose="020B0604020202020204" pitchFamily="34" charset="0"/>
              <a:buChar char="•"/>
            </a:pPr>
            <a:endParaRPr lang="en-ID" sz="1400" dirty="0"/>
          </a:p>
          <a:p>
            <a:pPr lvl="0" algn="just"/>
            <a:r>
              <a:rPr lang="en-ID" sz="1400" b="1" dirty="0"/>
              <a:t>3. Data Transformation</a:t>
            </a:r>
          </a:p>
          <a:p>
            <a:pPr marL="285750" lvl="0" indent="-285750" algn="just">
              <a:buFont typeface="Arial" panose="020B0604020202020204" pitchFamily="34" charset="0"/>
              <a:buChar char="•"/>
            </a:pPr>
            <a:r>
              <a:rPr lang="en-ID" sz="1400" dirty="0"/>
              <a:t>Prepared date-related features for time-series analysis.</a:t>
            </a:r>
          </a:p>
          <a:p>
            <a:pPr marL="285750" lvl="0" indent="-285750" algn="just">
              <a:buFont typeface="Arial" panose="020B0604020202020204" pitchFamily="34" charset="0"/>
              <a:buChar char="•"/>
            </a:pPr>
            <a:r>
              <a:rPr lang="en-ID" sz="1400" dirty="0"/>
              <a:t>Prepared sales, profit, and other key business metrics.</a:t>
            </a:r>
          </a:p>
          <a:p>
            <a:pPr marL="285750" lvl="0" indent="-285750" algn="just">
              <a:buFont typeface="Arial" panose="020B0604020202020204" pitchFamily="34" charset="0"/>
              <a:buChar char="•"/>
            </a:pPr>
            <a:endParaRPr lang="en-ID" sz="1400" dirty="0"/>
          </a:p>
          <a:p>
            <a:pPr lvl="0" algn="just"/>
            <a:r>
              <a:rPr lang="en-ID" sz="1400" b="1" dirty="0"/>
              <a:t>4. Final Data Validation</a:t>
            </a:r>
          </a:p>
          <a:p>
            <a:pPr marL="285750" lvl="0" indent="-285750" algn="just">
              <a:buFont typeface="Arial" panose="020B0604020202020204" pitchFamily="34" charset="0"/>
              <a:buChar char="•"/>
            </a:pPr>
            <a:r>
              <a:rPr lang="en-ID" sz="1400" dirty="0"/>
              <a:t>Rechecked data consistency and completeness.</a:t>
            </a:r>
          </a:p>
          <a:p>
            <a:pPr marL="285750" lvl="0" indent="-285750" algn="just">
              <a:buFont typeface="Arial" panose="020B0604020202020204" pitchFamily="34" charset="0"/>
              <a:buChar char="•"/>
            </a:pPr>
            <a:r>
              <a:rPr lang="en-ID" sz="1400" dirty="0"/>
              <a:t>Exported the cleaned dataset for further analysis in Excel and Power BI.</a:t>
            </a:r>
          </a:p>
          <a:p>
            <a:pPr lvl="0" algn="just"/>
            <a:endParaRPr lang="en-ID" sz="1400" dirty="0"/>
          </a:p>
          <a:p>
            <a:pPr algn="just"/>
            <a:r>
              <a:rPr lang="en-ID" sz="1400" b="1" dirty="0"/>
              <a:t>Outcome:</a:t>
            </a:r>
            <a:r>
              <a:rPr lang="en-ID" sz="1400" dirty="0"/>
              <a:t> An analysis-ready dataset for reliable business reporting and visualization.</a:t>
            </a:r>
          </a:p>
          <a:p>
            <a:pPr lvl="0" algn="just"/>
            <a:endParaRPr lang="en-ID" sz="1400" dirty="0"/>
          </a:p>
        </p:txBody>
      </p:sp>
      <p:sp>
        <p:nvSpPr>
          <p:cNvPr id="6" name="Rectangle 5"/>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6</a:t>
            </a:r>
          </a:p>
        </p:txBody>
      </p:sp>
      <p:pic>
        <p:nvPicPr>
          <p:cNvPr id="8" name="Picture 7">
            <a:extLst>
              <a:ext uri="{FF2B5EF4-FFF2-40B4-BE49-F238E27FC236}">
                <a16:creationId xmlns:a16="http://schemas.microsoft.com/office/drawing/2014/main" id="{0DF4539F-2271-E899-0C5B-D0864E4D192A}"/>
              </a:ext>
            </a:extLst>
          </p:cNvPr>
          <p:cNvPicPr>
            <a:picLocks noChangeAspect="1"/>
          </p:cNvPicPr>
          <p:nvPr/>
        </p:nvPicPr>
        <p:blipFill>
          <a:blip r:embed="rId2"/>
          <a:stretch>
            <a:fillRect/>
          </a:stretch>
        </p:blipFill>
        <p:spPr>
          <a:xfrm>
            <a:off x="6885661" y="1429545"/>
            <a:ext cx="3606800" cy="2028825"/>
          </a:xfrm>
          <a:prstGeom prst="rect">
            <a:avLst/>
          </a:prstGeom>
        </p:spPr>
      </p:pic>
      <p:pic>
        <p:nvPicPr>
          <p:cNvPr id="15" name="Picture 14">
            <a:extLst>
              <a:ext uri="{FF2B5EF4-FFF2-40B4-BE49-F238E27FC236}">
                <a16:creationId xmlns:a16="http://schemas.microsoft.com/office/drawing/2014/main" id="{68C29446-8173-7917-1383-57075A6B5502}"/>
              </a:ext>
            </a:extLst>
          </p:cNvPr>
          <p:cNvPicPr>
            <a:picLocks noChangeAspect="1"/>
          </p:cNvPicPr>
          <p:nvPr/>
        </p:nvPicPr>
        <p:blipFill>
          <a:blip r:embed="rId3"/>
          <a:stretch>
            <a:fillRect/>
          </a:stretch>
        </p:blipFill>
        <p:spPr>
          <a:xfrm>
            <a:off x="6885661" y="3571179"/>
            <a:ext cx="3606800" cy="20288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5. Exploratory Data Analysis (Python)</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Core visual questions explored</a:t>
            </a:r>
          </a:p>
        </p:txBody>
      </p:sp>
      <p:sp>
        <p:nvSpPr>
          <p:cNvPr id="4" name="Rounded Rectangle 3"/>
          <p:cNvSpPr/>
          <p:nvPr/>
        </p:nvSpPr>
        <p:spPr>
          <a:xfrm>
            <a:off x="640080" y="1325880"/>
            <a:ext cx="3520440" cy="2057400"/>
          </a:xfrm>
          <a:prstGeom prst="roundRect">
            <a:avLst/>
          </a:prstGeom>
          <a:solidFill>
            <a:srgbClr val="E0EFFC"/>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rPr dirty="0"/>
              <a:t>INSERT PYTHON VISUAL</a:t>
            </a:r>
            <a:br>
              <a:rPr dirty="0"/>
            </a:br>
            <a:r>
              <a:rPr dirty="0"/>
              <a:t>Attrition Distribution</a:t>
            </a:r>
          </a:p>
        </p:txBody>
      </p:sp>
      <p:sp>
        <p:nvSpPr>
          <p:cNvPr id="5" name="Rounded Rectangle 4"/>
          <p:cNvSpPr/>
          <p:nvPr/>
        </p:nvSpPr>
        <p:spPr>
          <a:xfrm>
            <a:off x="4343400" y="1325880"/>
            <a:ext cx="3520440" cy="2057400"/>
          </a:xfrm>
          <a:prstGeom prst="roundRect">
            <a:avLst/>
          </a:prstGeom>
          <a:solidFill>
            <a:srgbClr val="FAE1EF"/>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rPr dirty="0"/>
              <a:t>INSERT PYTHON VISUAL</a:t>
            </a:r>
            <a:br>
              <a:rPr dirty="0"/>
            </a:br>
            <a:r>
              <a:rPr dirty="0"/>
              <a:t>Attrition Rate by Department</a:t>
            </a:r>
          </a:p>
        </p:txBody>
      </p:sp>
      <p:sp>
        <p:nvSpPr>
          <p:cNvPr id="6" name="Rounded Rectangle 5"/>
          <p:cNvSpPr/>
          <p:nvPr/>
        </p:nvSpPr>
        <p:spPr>
          <a:xfrm>
            <a:off x="8046720" y="1325880"/>
            <a:ext cx="3520440" cy="2057400"/>
          </a:xfrm>
          <a:prstGeom prst="roundRect">
            <a:avLst/>
          </a:prstGeom>
          <a:solidFill>
            <a:srgbClr val="EAE4FA"/>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rPr dirty="0"/>
              <a:t>INSERT PYTHON VISUAL</a:t>
            </a:r>
            <a:br>
              <a:rPr dirty="0"/>
            </a:br>
            <a:r>
              <a:rPr dirty="0"/>
              <a:t>Attrition Rate by Job Role</a:t>
            </a:r>
          </a:p>
        </p:txBody>
      </p:sp>
      <p:sp>
        <p:nvSpPr>
          <p:cNvPr id="7" name="Rounded Rectangle 6"/>
          <p:cNvSpPr/>
          <p:nvPr/>
        </p:nvSpPr>
        <p:spPr>
          <a:xfrm>
            <a:off x="640080" y="3657600"/>
            <a:ext cx="3520440" cy="2057400"/>
          </a:xfrm>
          <a:prstGeom prst="roundRect">
            <a:avLst/>
          </a:prstGeom>
          <a:solidFill>
            <a:srgbClr val="FCE7DA"/>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t>INSERT PYTHON VISUAL</a:t>
            </a:r>
            <a:br/>
            <a:r>
              <a:t>Attrition Rate by OverTime</a:t>
            </a:r>
          </a:p>
        </p:txBody>
      </p:sp>
      <p:sp>
        <p:nvSpPr>
          <p:cNvPr id="8" name="Rounded Rectangle 7"/>
          <p:cNvSpPr/>
          <p:nvPr/>
        </p:nvSpPr>
        <p:spPr>
          <a:xfrm>
            <a:off x="4343400" y="3657600"/>
            <a:ext cx="3520440" cy="2057400"/>
          </a:xfrm>
          <a:prstGeom prst="roundRect">
            <a:avLst/>
          </a:prstGeom>
          <a:solidFill>
            <a:srgbClr val="E0EFFC"/>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rPr dirty="0"/>
              <a:t>INSERT PYTHON VISUAL</a:t>
            </a:r>
            <a:br>
              <a:rPr dirty="0"/>
            </a:br>
            <a:r>
              <a:rPr dirty="0"/>
              <a:t>Attrition Rate by Age Group</a:t>
            </a:r>
          </a:p>
        </p:txBody>
      </p:sp>
      <p:sp>
        <p:nvSpPr>
          <p:cNvPr id="9" name="Rounded Rectangle 8"/>
          <p:cNvSpPr/>
          <p:nvPr/>
        </p:nvSpPr>
        <p:spPr>
          <a:xfrm>
            <a:off x="8046720" y="3657600"/>
            <a:ext cx="3520440" cy="2057400"/>
          </a:xfrm>
          <a:prstGeom prst="roundRect">
            <a:avLst/>
          </a:prstGeom>
          <a:solidFill>
            <a:srgbClr val="FAE1EF"/>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rPr dirty="0"/>
              <a:t>INSERT PYTHON VISUAL</a:t>
            </a:r>
            <a:br>
              <a:rPr dirty="0"/>
            </a:br>
            <a:r>
              <a:rPr dirty="0"/>
              <a:t>Tenure / Income Analysis</a:t>
            </a:r>
          </a:p>
        </p:txBody>
      </p:sp>
      <p:sp>
        <p:nvSpPr>
          <p:cNvPr id="10" name="Rectangle 9"/>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7</a:t>
            </a:r>
          </a:p>
        </p:txBody>
      </p:sp>
      <p:pic>
        <p:nvPicPr>
          <p:cNvPr id="18" name="Picture 17">
            <a:extLst>
              <a:ext uri="{FF2B5EF4-FFF2-40B4-BE49-F238E27FC236}">
                <a16:creationId xmlns:a16="http://schemas.microsoft.com/office/drawing/2014/main" id="{5ECB61B1-7D5C-044C-92B2-6F647AB351AE}"/>
              </a:ext>
            </a:extLst>
          </p:cNvPr>
          <p:cNvPicPr>
            <a:picLocks noChangeAspect="1"/>
          </p:cNvPicPr>
          <p:nvPr/>
        </p:nvPicPr>
        <p:blipFill>
          <a:blip r:embed="rId2"/>
          <a:stretch>
            <a:fillRect/>
          </a:stretch>
        </p:blipFill>
        <p:spPr>
          <a:xfrm>
            <a:off x="708320" y="1693503"/>
            <a:ext cx="3383959" cy="1437391"/>
          </a:xfrm>
          <a:prstGeom prst="rect">
            <a:avLst/>
          </a:prstGeom>
        </p:spPr>
      </p:pic>
      <p:pic>
        <p:nvPicPr>
          <p:cNvPr id="19" name="Picture 18">
            <a:extLst>
              <a:ext uri="{FF2B5EF4-FFF2-40B4-BE49-F238E27FC236}">
                <a16:creationId xmlns:a16="http://schemas.microsoft.com/office/drawing/2014/main" id="{EB6EF7A8-6469-6CED-A576-DCC59651B339}"/>
              </a:ext>
            </a:extLst>
          </p:cNvPr>
          <p:cNvPicPr>
            <a:picLocks noChangeAspect="1"/>
          </p:cNvPicPr>
          <p:nvPr/>
        </p:nvPicPr>
        <p:blipFill>
          <a:blip r:embed="rId3"/>
          <a:stretch>
            <a:fillRect/>
          </a:stretch>
        </p:blipFill>
        <p:spPr>
          <a:xfrm>
            <a:off x="4523360" y="1399535"/>
            <a:ext cx="3160520" cy="1885447"/>
          </a:xfrm>
          <a:prstGeom prst="rect">
            <a:avLst/>
          </a:prstGeom>
        </p:spPr>
      </p:pic>
      <p:pic>
        <p:nvPicPr>
          <p:cNvPr id="20" name="Picture 19">
            <a:extLst>
              <a:ext uri="{FF2B5EF4-FFF2-40B4-BE49-F238E27FC236}">
                <a16:creationId xmlns:a16="http://schemas.microsoft.com/office/drawing/2014/main" id="{CBCAF50E-260F-FCBA-D1B6-84FEF8835D47}"/>
              </a:ext>
            </a:extLst>
          </p:cNvPr>
          <p:cNvPicPr>
            <a:picLocks noChangeAspect="1"/>
          </p:cNvPicPr>
          <p:nvPr/>
        </p:nvPicPr>
        <p:blipFill>
          <a:blip r:embed="rId4"/>
          <a:stretch>
            <a:fillRect/>
          </a:stretch>
        </p:blipFill>
        <p:spPr>
          <a:xfrm>
            <a:off x="8248657" y="1458028"/>
            <a:ext cx="3062471" cy="1826954"/>
          </a:xfrm>
          <a:prstGeom prst="rect">
            <a:avLst/>
          </a:prstGeom>
        </p:spPr>
      </p:pic>
      <p:pic>
        <p:nvPicPr>
          <p:cNvPr id="21" name="Picture 20">
            <a:extLst>
              <a:ext uri="{FF2B5EF4-FFF2-40B4-BE49-F238E27FC236}">
                <a16:creationId xmlns:a16="http://schemas.microsoft.com/office/drawing/2014/main" id="{B4BF4989-1625-37E0-1601-E2A6089BC990}"/>
              </a:ext>
            </a:extLst>
          </p:cNvPr>
          <p:cNvPicPr>
            <a:picLocks noChangeAspect="1"/>
          </p:cNvPicPr>
          <p:nvPr/>
        </p:nvPicPr>
        <p:blipFill>
          <a:blip r:embed="rId5"/>
          <a:stretch>
            <a:fillRect/>
          </a:stretch>
        </p:blipFill>
        <p:spPr>
          <a:xfrm>
            <a:off x="1001860" y="3750903"/>
            <a:ext cx="2899627" cy="1798502"/>
          </a:xfrm>
          <a:prstGeom prst="rect">
            <a:avLst/>
          </a:prstGeom>
        </p:spPr>
      </p:pic>
      <p:pic>
        <p:nvPicPr>
          <p:cNvPr id="22" name="Picture 21">
            <a:extLst>
              <a:ext uri="{FF2B5EF4-FFF2-40B4-BE49-F238E27FC236}">
                <a16:creationId xmlns:a16="http://schemas.microsoft.com/office/drawing/2014/main" id="{0C07CF24-7171-D43D-6982-CCBE912CB8BA}"/>
              </a:ext>
            </a:extLst>
          </p:cNvPr>
          <p:cNvPicPr>
            <a:picLocks noChangeAspect="1"/>
          </p:cNvPicPr>
          <p:nvPr/>
        </p:nvPicPr>
        <p:blipFill>
          <a:blip r:embed="rId6"/>
          <a:stretch>
            <a:fillRect/>
          </a:stretch>
        </p:blipFill>
        <p:spPr>
          <a:xfrm>
            <a:off x="4703970" y="3792475"/>
            <a:ext cx="2878310" cy="1715357"/>
          </a:xfrm>
          <a:prstGeom prst="rect">
            <a:avLst/>
          </a:prstGeom>
        </p:spPr>
      </p:pic>
      <p:pic>
        <p:nvPicPr>
          <p:cNvPr id="23" name="Picture 22">
            <a:extLst>
              <a:ext uri="{FF2B5EF4-FFF2-40B4-BE49-F238E27FC236}">
                <a16:creationId xmlns:a16="http://schemas.microsoft.com/office/drawing/2014/main" id="{CBB12B2E-87B4-BE71-92DD-CD7B192988F7}"/>
              </a:ext>
            </a:extLst>
          </p:cNvPr>
          <p:cNvPicPr>
            <a:picLocks noChangeAspect="1"/>
          </p:cNvPicPr>
          <p:nvPr/>
        </p:nvPicPr>
        <p:blipFill>
          <a:blip r:embed="rId7"/>
          <a:stretch>
            <a:fillRect/>
          </a:stretch>
        </p:blipFill>
        <p:spPr>
          <a:xfrm>
            <a:off x="8398874" y="3792475"/>
            <a:ext cx="2816131" cy="17467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6. Correlation &amp; Supporting Analysis</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Supporting numerical relationships</a:t>
            </a:r>
          </a:p>
        </p:txBody>
      </p:sp>
      <p:sp>
        <p:nvSpPr>
          <p:cNvPr id="4" name="Rounded Rectangle 3"/>
          <p:cNvSpPr/>
          <p:nvPr/>
        </p:nvSpPr>
        <p:spPr>
          <a:xfrm>
            <a:off x="685800" y="1325880"/>
            <a:ext cx="6583680" cy="4480560"/>
          </a:xfrm>
          <a:prstGeom prst="roundRect">
            <a:avLst/>
          </a:prstGeom>
          <a:solidFill>
            <a:srgbClr val="EAE4FA"/>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t>INSERT SCREENSHOT</a:t>
            </a:r>
            <a:br/>
            <a:r>
              <a:t>Correlation Matrix / Attrition Correlation</a:t>
            </a:r>
          </a:p>
        </p:txBody>
      </p:sp>
      <p:sp>
        <p:nvSpPr>
          <p:cNvPr id="5" name="Rounded Rectangle 4"/>
          <p:cNvSpPr/>
          <p:nvPr/>
        </p:nvSpPr>
        <p:spPr>
          <a:xfrm>
            <a:off x="7543800" y="1325880"/>
            <a:ext cx="3977639" cy="448056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sz="1400" dirty="0">
                <a:solidFill>
                  <a:schemeClr val="tx1"/>
                </a:solidFill>
              </a:rPr>
              <a:t>How to Interpret</a:t>
            </a:r>
            <a:endParaRPr lang="en-US" sz="1400" dirty="0">
              <a:solidFill>
                <a:schemeClr val="tx1"/>
              </a:solidFill>
            </a:endParaRPr>
          </a:p>
          <a:p>
            <a:pPr algn="ctr">
              <a:defRPr sz="1400" b="1">
                <a:solidFill>
                  <a:srgbClr val="162F56"/>
                </a:solidFill>
              </a:defRPr>
            </a:pPr>
            <a:endParaRPr lang="en-ID" sz="1400" dirty="0">
              <a:solidFill>
                <a:schemeClr val="tx1"/>
              </a:solidFill>
            </a:endParaRPr>
          </a:p>
          <a:p>
            <a:pPr marL="285750" lvl="0" indent="-285750" algn="just">
              <a:lnSpc>
                <a:spcPct val="150000"/>
              </a:lnSpc>
              <a:buFont typeface="Arial" panose="020B0604020202020204" pitchFamily="34" charset="0"/>
              <a:buChar char="•"/>
            </a:pPr>
            <a:r>
              <a:rPr lang="en-ID" sz="1400" b="1" dirty="0">
                <a:solidFill>
                  <a:schemeClr val="tx1"/>
                </a:solidFill>
              </a:rPr>
              <a:t>Positive Correlation (+):</a:t>
            </a:r>
            <a:r>
              <a:rPr lang="en-ID" sz="1400" dirty="0">
                <a:solidFill>
                  <a:schemeClr val="tx1"/>
                </a:solidFill>
              </a:rPr>
              <a:t> Both variables tend to increase together.</a:t>
            </a:r>
          </a:p>
          <a:p>
            <a:pPr marL="285750" lvl="0" indent="-285750" algn="just">
              <a:lnSpc>
                <a:spcPct val="150000"/>
              </a:lnSpc>
              <a:buFont typeface="Arial" panose="020B0604020202020204" pitchFamily="34" charset="0"/>
              <a:buChar char="•"/>
            </a:pPr>
            <a:r>
              <a:rPr lang="en-ID" sz="1400" b="1" dirty="0">
                <a:solidFill>
                  <a:schemeClr val="tx1"/>
                </a:solidFill>
              </a:rPr>
              <a:t>Negative Correlation (−):</a:t>
            </a:r>
            <a:r>
              <a:rPr lang="en-ID" sz="1400" dirty="0">
                <a:solidFill>
                  <a:schemeClr val="tx1"/>
                </a:solidFill>
              </a:rPr>
              <a:t> As one variable increases, the other tends to decrease.</a:t>
            </a:r>
          </a:p>
          <a:p>
            <a:pPr marL="285750" lvl="0" indent="-285750" algn="just">
              <a:lnSpc>
                <a:spcPct val="150000"/>
              </a:lnSpc>
              <a:buFont typeface="Arial" panose="020B0604020202020204" pitchFamily="34" charset="0"/>
              <a:buChar char="•"/>
            </a:pPr>
            <a:r>
              <a:rPr lang="en-ID" sz="1400" b="1" dirty="0">
                <a:solidFill>
                  <a:schemeClr val="tx1"/>
                </a:solidFill>
              </a:rPr>
              <a:t>Weak Correlation (Near 0):</a:t>
            </a:r>
            <a:r>
              <a:rPr lang="en-ID" sz="1400" dirty="0">
                <a:solidFill>
                  <a:schemeClr val="tx1"/>
                </a:solidFill>
              </a:rPr>
              <a:t> Little or no linear relationship between the variables.</a:t>
            </a:r>
          </a:p>
          <a:p>
            <a:pPr marL="285750" lvl="0" indent="-285750" algn="just">
              <a:lnSpc>
                <a:spcPct val="150000"/>
              </a:lnSpc>
              <a:buFont typeface="Arial" panose="020B0604020202020204" pitchFamily="34" charset="0"/>
              <a:buChar char="•"/>
            </a:pPr>
            <a:r>
              <a:rPr lang="en-ID" sz="1400" b="1" dirty="0">
                <a:solidFill>
                  <a:schemeClr val="tx1"/>
                </a:solidFill>
              </a:rPr>
              <a:t>Strong Correlation (Near +1 or −1):</a:t>
            </a:r>
            <a:r>
              <a:rPr lang="en-ID" sz="1400" dirty="0">
                <a:solidFill>
                  <a:schemeClr val="tx1"/>
                </a:solidFill>
              </a:rPr>
              <a:t> A strong positive or negative linear relationship.</a:t>
            </a:r>
          </a:p>
          <a:p>
            <a:pPr algn="ctr">
              <a:defRPr sz="1400" b="1">
                <a:solidFill>
                  <a:srgbClr val="162F56"/>
                </a:solidFill>
              </a:defRPr>
            </a:pPr>
            <a:endParaRPr lang="en-US" sz="1400" dirty="0">
              <a:solidFill>
                <a:schemeClr val="tx1"/>
              </a:solidFill>
            </a:endParaRPr>
          </a:p>
        </p:txBody>
      </p:sp>
      <p:sp>
        <p:nvSpPr>
          <p:cNvPr id="6" name="Rectangle 5"/>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8</a:t>
            </a:r>
          </a:p>
        </p:txBody>
      </p:sp>
      <p:pic>
        <p:nvPicPr>
          <p:cNvPr id="9" name="Picture 8">
            <a:extLst>
              <a:ext uri="{FF2B5EF4-FFF2-40B4-BE49-F238E27FC236}">
                <a16:creationId xmlns:a16="http://schemas.microsoft.com/office/drawing/2014/main" id="{82EEF600-76E1-9AC1-B41A-1B04EE7C3A92}"/>
              </a:ext>
            </a:extLst>
          </p:cNvPr>
          <p:cNvPicPr>
            <a:picLocks noChangeAspect="1"/>
          </p:cNvPicPr>
          <p:nvPr/>
        </p:nvPicPr>
        <p:blipFill>
          <a:blip r:embed="rId2"/>
          <a:stretch>
            <a:fillRect/>
          </a:stretch>
        </p:blipFill>
        <p:spPr>
          <a:xfrm>
            <a:off x="1111983" y="1442021"/>
            <a:ext cx="5731314" cy="420255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10972800" cy="594360"/>
          </a:xfrm>
          <a:prstGeom prst="rect">
            <a:avLst/>
          </a:prstGeom>
          <a:noFill/>
        </p:spPr>
        <p:txBody>
          <a:bodyPr wrap="none">
            <a:spAutoFit/>
          </a:bodyPr>
          <a:lstStyle/>
          <a:p>
            <a:pPr>
              <a:defRPr sz="2700" b="1">
                <a:solidFill>
                  <a:srgbClr val="162F56"/>
                </a:solidFill>
              </a:defRPr>
            </a:pPr>
            <a:r>
              <a:t>7. Power BI Dashboard</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Interactive workforce attrition overview</a:t>
            </a:r>
          </a:p>
        </p:txBody>
      </p:sp>
      <p:sp>
        <p:nvSpPr>
          <p:cNvPr id="4" name="Rounded Rectangle 3"/>
          <p:cNvSpPr/>
          <p:nvPr/>
        </p:nvSpPr>
        <p:spPr>
          <a:xfrm>
            <a:off x="594360" y="1234440"/>
            <a:ext cx="7818120" cy="5074920"/>
          </a:xfrm>
          <a:prstGeom prst="roundRect">
            <a:avLst/>
          </a:prstGeom>
          <a:solidFill>
            <a:srgbClr val="E0EFFC"/>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t>INSERT SCREENSHOT</a:t>
            </a:r>
            <a:br/>
            <a:r>
              <a:t>FINAL POWER BI DASHBOARD</a:t>
            </a:r>
          </a:p>
        </p:txBody>
      </p:sp>
      <p:sp>
        <p:nvSpPr>
          <p:cNvPr id="5" name="Rounded Rectangle 4"/>
          <p:cNvSpPr/>
          <p:nvPr/>
        </p:nvSpPr>
        <p:spPr>
          <a:xfrm>
            <a:off x="8641080" y="1234440"/>
            <a:ext cx="2926080" cy="96012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KPI Cards</a:t>
            </a:r>
          </a:p>
        </p:txBody>
      </p:sp>
      <p:sp>
        <p:nvSpPr>
          <p:cNvPr id="6" name="Rounded Rectangle 5"/>
          <p:cNvSpPr/>
          <p:nvPr/>
        </p:nvSpPr>
        <p:spPr>
          <a:xfrm>
            <a:off x="8641080" y="2423160"/>
            <a:ext cx="2926080" cy="960120"/>
          </a:xfrm>
          <a:prstGeom prst="roundRect">
            <a:avLst/>
          </a:prstGeom>
          <a:solidFill>
            <a:srgbClr val="FCE7D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Interactive Filters</a:t>
            </a:r>
          </a:p>
        </p:txBody>
      </p:sp>
      <p:sp>
        <p:nvSpPr>
          <p:cNvPr id="7" name="Rounded Rectangle 6"/>
          <p:cNvSpPr/>
          <p:nvPr/>
        </p:nvSpPr>
        <p:spPr>
          <a:xfrm>
            <a:off x="8641080" y="3611880"/>
            <a:ext cx="2926080" cy="1325880"/>
          </a:xfrm>
          <a:prstGeom prst="roundRect">
            <a:avLst/>
          </a:prstGeom>
          <a:solidFill>
            <a:srgbClr val="EAE4F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Main Analysis</a:t>
            </a:r>
          </a:p>
        </p:txBody>
      </p:sp>
      <p:sp>
        <p:nvSpPr>
          <p:cNvPr id="8" name="Rounded Rectangle 7"/>
          <p:cNvSpPr/>
          <p:nvPr/>
        </p:nvSpPr>
        <p:spPr>
          <a:xfrm>
            <a:off x="8641080" y="5166360"/>
            <a:ext cx="2926080" cy="96012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Purpose</a:t>
            </a:r>
          </a:p>
        </p:txBody>
      </p:sp>
      <p:sp>
        <p:nvSpPr>
          <p:cNvPr id="9" name="Rectangle 8"/>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9</a:t>
            </a:r>
          </a:p>
        </p:txBody>
      </p:sp>
      <p:pic>
        <p:nvPicPr>
          <p:cNvPr id="13" name="Picture 12">
            <a:extLst>
              <a:ext uri="{FF2B5EF4-FFF2-40B4-BE49-F238E27FC236}">
                <a16:creationId xmlns:a16="http://schemas.microsoft.com/office/drawing/2014/main" id="{7BB9D6BD-2082-5FDE-295C-38D46FC16C0E}"/>
              </a:ext>
            </a:extLst>
          </p:cNvPr>
          <p:cNvPicPr>
            <a:picLocks noChangeAspect="1"/>
          </p:cNvPicPr>
          <p:nvPr/>
        </p:nvPicPr>
        <p:blipFill>
          <a:blip r:embed="rId2"/>
          <a:stretch>
            <a:fillRect/>
          </a:stretch>
        </p:blipFill>
        <p:spPr>
          <a:xfrm>
            <a:off x="2088835" y="1468656"/>
            <a:ext cx="5151391" cy="44566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2894382" cy="507831"/>
          </a:xfrm>
          <a:prstGeom prst="rect">
            <a:avLst/>
          </a:prstGeom>
          <a:noFill/>
        </p:spPr>
        <p:txBody>
          <a:bodyPr wrap="none">
            <a:spAutoFit/>
          </a:bodyPr>
          <a:lstStyle/>
          <a:p>
            <a:pPr>
              <a:defRPr sz="2700" b="1">
                <a:solidFill>
                  <a:srgbClr val="162F56"/>
                </a:solidFill>
              </a:defRPr>
            </a:pPr>
            <a:r>
              <a:rPr lang="en-US" dirty="0"/>
              <a:t>8</a:t>
            </a:r>
            <a:r>
              <a:rPr dirty="0"/>
              <a:t>. Excel Dashboard</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PivotTables, PivotCharts, slicers, and KPI cards</a:t>
            </a:r>
          </a:p>
        </p:txBody>
      </p:sp>
      <p:sp>
        <p:nvSpPr>
          <p:cNvPr id="4" name="Rounded Rectangle 3"/>
          <p:cNvSpPr/>
          <p:nvPr/>
        </p:nvSpPr>
        <p:spPr>
          <a:xfrm>
            <a:off x="594360" y="1234440"/>
            <a:ext cx="7818120" cy="5074920"/>
          </a:xfrm>
          <a:prstGeom prst="roundRect">
            <a:avLst/>
          </a:prstGeom>
          <a:solidFill>
            <a:srgbClr val="FCE7DA"/>
          </a:solidFill>
          <a:ln>
            <a:solidFill>
              <a:srgbClr val="BEC8D7"/>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5F6978"/>
                </a:solidFill>
              </a:defRPr>
            </a:pPr>
            <a:r>
              <a:t>INSERT SCREENSHOT</a:t>
            </a:r>
            <a:br/>
            <a:r>
              <a:t>FINAL EXCEL DASHBOARD</a:t>
            </a:r>
          </a:p>
        </p:txBody>
      </p:sp>
      <p:sp>
        <p:nvSpPr>
          <p:cNvPr id="5" name="Rounded Rectangle 4"/>
          <p:cNvSpPr/>
          <p:nvPr/>
        </p:nvSpPr>
        <p:spPr>
          <a:xfrm>
            <a:off x="8641080" y="1234440"/>
            <a:ext cx="2926080" cy="100584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Pivot Analysis</a:t>
            </a:r>
          </a:p>
          <a:p>
            <a:pPr algn="just">
              <a:spcBef>
                <a:spcPts val="700"/>
              </a:spcBef>
              <a:defRPr sz="1050">
                <a:solidFill>
                  <a:srgbClr val="1E2128"/>
                </a:solidFill>
              </a:defRPr>
            </a:pPr>
            <a:r>
              <a:rPr lang="en-ID" sz="1050" dirty="0">
                <a:solidFill>
                  <a:srgbClr val="1E2128"/>
                </a:solidFill>
              </a:rPr>
              <a:t>Sales, profit, product, customer, and regional performance </a:t>
            </a:r>
            <a:r>
              <a:rPr lang="en-ID" sz="1050" dirty="0" err="1">
                <a:solidFill>
                  <a:srgbClr val="1E2128"/>
                </a:solidFill>
              </a:rPr>
              <a:t>analyzed</a:t>
            </a:r>
            <a:r>
              <a:rPr lang="en-ID" sz="1050" dirty="0">
                <a:solidFill>
                  <a:srgbClr val="1E2128"/>
                </a:solidFill>
              </a:rPr>
              <a:t> using PivotTables and </a:t>
            </a:r>
            <a:r>
              <a:rPr lang="en-ID" sz="1050" dirty="0" err="1">
                <a:solidFill>
                  <a:srgbClr val="1E2128"/>
                </a:solidFill>
              </a:rPr>
              <a:t>PivotCharts</a:t>
            </a:r>
            <a:r>
              <a:rPr lang="en-ID" sz="1050" dirty="0">
                <a:solidFill>
                  <a:srgbClr val="1E2128"/>
                </a:solidFill>
              </a:rPr>
              <a:t>.</a:t>
            </a:r>
            <a:endParaRPr dirty="0"/>
          </a:p>
        </p:txBody>
      </p:sp>
      <p:sp>
        <p:nvSpPr>
          <p:cNvPr id="6" name="Rounded Rectangle 5"/>
          <p:cNvSpPr/>
          <p:nvPr/>
        </p:nvSpPr>
        <p:spPr>
          <a:xfrm>
            <a:off x="8641080" y="2514600"/>
            <a:ext cx="2926080" cy="100584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Slicers</a:t>
            </a:r>
          </a:p>
          <a:p>
            <a:pPr algn="just">
              <a:spcBef>
                <a:spcPts val="700"/>
              </a:spcBef>
              <a:defRPr sz="1050">
                <a:solidFill>
                  <a:srgbClr val="1E2128"/>
                </a:solidFill>
              </a:defRPr>
            </a:pPr>
            <a:r>
              <a:rPr lang="en-ID" sz="1050" dirty="0">
                <a:solidFill>
                  <a:srgbClr val="1E2128"/>
                </a:solidFill>
              </a:rPr>
              <a:t>Year • Region • Country • Product Category • Customer Segment • Order Date</a:t>
            </a:r>
            <a:endParaRPr dirty="0"/>
          </a:p>
        </p:txBody>
      </p:sp>
      <p:sp>
        <p:nvSpPr>
          <p:cNvPr id="7" name="Rounded Rectangle 6"/>
          <p:cNvSpPr/>
          <p:nvPr/>
        </p:nvSpPr>
        <p:spPr>
          <a:xfrm>
            <a:off x="8641080" y="3794760"/>
            <a:ext cx="2926080" cy="1005840"/>
          </a:xfrm>
          <a:prstGeom prst="roundRect">
            <a:avLst/>
          </a:prstGeom>
          <a:solidFill>
            <a:srgbClr val="EAE4F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Dashboard KPIs</a:t>
            </a:r>
          </a:p>
          <a:p>
            <a:pPr algn="just">
              <a:spcBef>
                <a:spcPts val="700"/>
              </a:spcBef>
              <a:defRPr sz="1050">
                <a:solidFill>
                  <a:srgbClr val="1E2128"/>
                </a:solidFill>
              </a:defRPr>
            </a:pPr>
            <a:r>
              <a:rPr lang="en-ID" sz="1050" dirty="0">
                <a:solidFill>
                  <a:srgbClr val="1E2128"/>
                </a:solidFill>
              </a:rPr>
              <a:t>Total Sales • Total Profit • Total Orders • Total Quantity Sold</a:t>
            </a:r>
            <a:endParaRPr dirty="0"/>
          </a:p>
        </p:txBody>
      </p:sp>
      <p:sp>
        <p:nvSpPr>
          <p:cNvPr id="8" name="Rounded Rectangle 7"/>
          <p:cNvSpPr/>
          <p:nvPr/>
        </p:nvSpPr>
        <p:spPr>
          <a:xfrm>
            <a:off x="8641080" y="5074920"/>
            <a:ext cx="2926080" cy="1005840"/>
          </a:xfrm>
          <a:prstGeom prst="roundRect">
            <a:avLst/>
          </a:prstGeom>
          <a:solidFill>
            <a:srgbClr val="FCE7D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defRPr sz="1400" b="1">
                <a:solidFill>
                  <a:srgbClr val="162F56"/>
                </a:solidFill>
              </a:defRPr>
            </a:pPr>
            <a:r>
              <a:rPr dirty="0"/>
              <a:t>Value</a:t>
            </a:r>
            <a:endParaRPr lang="en-ID" dirty="0"/>
          </a:p>
          <a:p>
            <a:pPr algn="just">
              <a:spcBef>
                <a:spcPts val="700"/>
              </a:spcBef>
              <a:defRPr sz="1050">
                <a:solidFill>
                  <a:srgbClr val="1E2128"/>
                </a:solidFill>
              </a:defRPr>
            </a:pPr>
            <a:r>
              <a:rPr lang="en-US" dirty="0"/>
              <a:t>E</a:t>
            </a:r>
            <a:r>
              <a:rPr lang="en-ID" sz="1050" dirty="0" err="1">
                <a:solidFill>
                  <a:srgbClr val="1E2128"/>
                </a:solidFill>
              </a:rPr>
              <a:t>nables</a:t>
            </a:r>
            <a:r>
              <a:rPr lang="en-ID" sz="1050" dirty="0">
                <a:solidFill>
                  <a:srgbClr val="1E2128"/>
                </a:solidFill>
              </a:rPr>
              <a:t> interactive sales monitoring and identifies key performance patterns across products and markets.</a:t>
            </a:r>
            <a:endParaRPr lang="en-US" dirty="0"/>
          </a:p>
        </p:txBody>
      </p:sp>
      <p:sp>
        <p:nvSpPr>
          <p:cNvPr id="9" name="Rectangle 8"/>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11</a:t>
            </a:r>
          </a:p>
        </p:txBody>
      </p:sp>
      <p:pic>
        <p:nvPicPr>
          <p:cNvPr id="13" name="Picture 12">
            <a:extLst>
              <a:ext uri="{FF2B5EF4-FFF2-40B4-BE49-F238E27FC236}">
                <a16:creationId xmlns:a16="http://schemas.microsoft.com/office/drawing/2014/main" id="{66202073-CBCA-DDC7-D880-CD343ADB3EEE}"/>
              </a:ext>
            </a:extLst>
          </p:cNvPr>
          <p:cNvPicPr>
            <a:picLocks noChangeAspect="1"/>
          </p:cNvPicPr>
          <p:nvPr/>
        </p:nvPicPr>
        <p:blipFill>
          <a:blip r:embed="rId2"/>
          <a:stretch>
            <a:fillRect/>
          </a:stretch>
        </p:blipFill>
        <p:spPr>
          <a:xfrm>
            <a:off x="1457723" y="1389805"/>
            <a:ext cx="6122785" cy="48099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3506794" cy="507831"/>
          </a:xfrm>
          <a:prstGeom prst="rect">
            <a:avLst/>
          </a:prstGeom>
          <a:noFill/>
        </p:spPr>
        <p:txBody>
          <a:bodyPr wrap="none">
            <a:spAutoFit/>
          </a:bodyPr>
          <a:lstStyle/>
          <a:p>
            <a:pPr>
              <a:defRPr sz="2700" b="1">
                <a:solidFill>
                  <a:srgbClr val="162F56"/>
                </a:solidFill>
              </a:defRPr>
            </a:pPr>
            <a:r>
              <a:rPr lang="en-US" dirty="0"/>
              <a:t>9</a:t>
            </a:r>
            <a:r>
              <a:rPr dirty="0"/>
              <a:t>. Multi-Tool Workflow</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How each tool contributes to the project</a:t>
            </a:r>
          </a:p>
        </p:txBody>
      </p:sp>
      <p:sp>
        <p:nvSpPr>
          <p:cNvPr id="4" name="Rounded Rectangle 3"/>
          <p:cNvSpPr/>
          <p:nvPr/>
        </p:nvSpPr>
        <p:spPr>
          <a:xfrm>
            <a:off x="731520" y="1417320"/>
            <a:ext cx="3474720" cy="4297680"/>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r>
              <a:rPr lang="en-ID" sz="1600" b="1" dirty="0">
                <a:solidFill>
                  <a:schemeClr val="tx1"/>
                </a:solidFill>
              </a:rPr>
              <a:t>Python — Data Preparation &amp; Analysis</a:t>
            </a:r>
          </a:p>
          <a:p>
            <a:pPr algn="just"/>
            <a:br>
              <a:rPr lang="en-ID" sz="1600" dirty="0">
                <a:solidFill>
                  <a:schemeClr val="tx1"/>
                </a:solidFill>
              </a:rPr>
            </a:br>
            <a:r>
              <a:rPr lang="en-ID" sz="1600" dirty="0">
                <a:solidFill>
                  <a:schemeClr val="tx1"/>
                </a:solidFill>
              </a:rPr>
              <a:t>Used for data understanding, cleaning, validation, and feature engineering. Performed exploratory data analysis (EDA), correlation analysis, and supporting visualizations to identify sales patterns and profitability relationships. The prepared dataset was exported for dashboard development.</a:t>
            </a:r>
          </a:p>
        </p:txBody>
      </p:sp>
      <p:sp>
        <p:nvSpPr>
          <p:cNvPr id="5" name="Rounded Rectangle 4"/>
          <p:cNvSpPr/>
          <p:nvPr/>
        </p:nvSpPr>
        <p:spPr>
          <a:xfrm>
            <a:off x="4370832" y="1417320"/>
            <a:ext cx="3474720" cy="4297680"/>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r>
              <a:rPr lang="en-ID" sz="1600" b="1" dirty="0">
                <a:solidFill>
                  <a:schemeClr val="tx1"/>
                </a:solidFill>
              </a:rPr>
              <a:t>Power BI — Interactive Data Visualization</a:t>
            </a:r>
          </a:p>
          <a:p>
            <a:endParaRPr lang="en-ID" b="1" dirty="0">
              <a:solidFill>
                <a:schemeClr val="tx1"/>
              </a:solidFill>
            </a:endParaRPr>
          </a:p>
          <a:p>
            <a:pPr algn="just"/>
            <a:r>
              <a:rPr lang="en-ID" sz="1600" dirty="0">
                <a:solidFill>
                  <a:schemeClr val="tx1"/>
                </a:solidFill>
              </a:rPr>
              <a:t>Used to develop an interactive Global E-Commerce dashboard featuring key performance indicators, sales trends, product profitability, customer segmentation, and regional performance. Interactive slicers enable dynamic exploration of business metrics.</a:t>
            </a:r>
          </a:p>
        </p:txBody>
      </p:sp>
      <p:sp>
        <p:nvSpPr>
          <p:cNvPr id="6" name="Rounded Rectangle 5"/>
          <p:cNvSpPr/>
          <p:nvPr/>
        </p:nvSpPr>
        <p:spPr>
          <a:xfrm>
            <a:off x="8010144" y="1417320"/>
            <a:ext cx="3474720" cy="4297680"/>
          </a:xfrm>
          <a:prstGeom prst="roundRect">
            <a:avLst/>
          </a:prstGeom>
          <a:solidFill>
            <a:srgbClr val="FCE7DA"/>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algn="ctr"/>
            <a:r>
              <a:rPr lang="en-ID" sz="1600" b="1" dirty="0">
                <a:solidFill>
                  <a:schemeClr val="tx1"/>
                </a:solidFill>
              </a:rPr>
              <a:t>Microsoft Excel — Business Reporting &amp; Dashboard</a:t>
            </a:r>
            <a:br>
              <a:rPr lang="en-ID" sz="1600" dirty="0">
                <a:solidFill>
                  <a:schemeClr val="tx1"/>
                </a:solidFill>
              </a:rPr>
            </a:br>
            <a:endParaRPr lang="en-ID" sz="1600" dirty="0">
              <a:solidFill>
                <a:schemeClr val="tx1"/>
              </a:solidFill>
            </a:endParaRPr>
          </a:p>
          <a:p>
            <a:pPr algn="just"/>
            <a:r>
              <a:rPr lang="en-ID" sz="1600" dirty="0">
                <a:solidFill>
                  <a:schemeClr val="tx1"/>
                </a:solidFill>
              </a:rPr>
              <a:t>Used to perform PivotTable-based analysis and develop an interactive sales dashboard using </a:t>
            </a:r>
            <a:r>
              <a:rPr lang="en-ID" sz="1600" dirty="0" err="1">
                <a:solidFill>
                  <a:schemeClr val="tx1"/>
                </a:solidFill>
              </a:rPr>
              <a:t>PivotCharts</a:t>
            </a:r>
            <a:r>
              <a:rPr lang="en-ID" sz="1600" dirty="0">
                <a:solidFill>
                  <a:schemeClr val="tx1"/>
                </a:solidFill>
              </a:rPr>
              <a:t>, KPI cards, and slicers. Provides a familiar reporting environment for monitoring sales, profit, order volume, and product performance.</a:t>
            </a:r>
          </a:p>
        </p:txBody>
      </p:sp>
      <p:sp>
        <p:nvSpPr>
          <p:cNvPr id="7" name="Rectangle 6"/>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4711226" cy="507831"/>
          </a:xfrm>
          <a:prstGeom prst="rect">
            <a:avLst/>
          </a:prstGeom>
          <a:noFill/>
        </p:spPr>
        <p:txBody>
          <a:bodyPr wrap="none">
            <a:spAutoFit/>
          </a:bodyPr>
          <a:lstStyle/>
          <a:p>
            <a:pPr>
              <a:defRPr sz="2700" b="1">
                <a:solidFill>
                  <a:srgbClr val="162F56"/>
                </a:solidFill>
              </a:defRPr>
            </a:pPr>
            <a:r>
              <a:rPr dirty="0"/>
              <a:t>1</a:t>
            </a:r>
            <a:r>
              <a:rPr lang="en-US" dirty="0"/>
              <a:t>0</a:t>
            </a:r>
            <a:r>
              <a:rPr dirty="0"/>
              <a:t>. Business Recommendations</a:t>
            </a:r>
          </a:p>
        </p:txBody>
      </p:sp>
      <p:sp>
        <p:nvSpPr>
          <p:cNvPr id="3" name="TextBox 2"/>
          <p:cNvSpPr txBox="1"/>
          <p:nvPr/>
        </p:nvSpPr>
        <p:spPr>
          <a:xfrm>
            <a:off x="612648" y="932688"/>
            <a:ext cx="10698480" cy="384048"/>
          </a:xfrm>
          <a:prstGeom prst="rect">
            <a:avLst/>
          </a:prstGeom>
          <a:noFill/>
        </p:spPr>
        <p:txBody>
          <a:bodyPr wrap="none">
            <a:spAutoFit/>
          </a:bodyPr>
          <a:lstStyle/>
          <a:p>
            <a:pPr>
              <a:defRPr sz="1100">
                <a:solidFill>
                  <a:srgbClr val="5F6978"/>
                </a:solidFill>
              </a:defRPr>
            </a:pPr>
            <a:r>
              <a:t>Actions suggested by the observed attrition patterns</a:t>
            </a:r>
          </a:p>
        </p:txBody>
      </p:sp>
      <p:sp>
        <p:nvSpPr>
          <p:cNvPr id="4" name="Rounded Rectangle 3"/>
          <p:cNvSpPr/>
          <p:nvPr/>
        </p:nvSpPr>
        <p:spPr>
          <a:xfrm>
            <a:off x="731520" y="1325880"/>
            <a:ext cx="10835640" cy="4791456"/>
          </a:xfrm>
          <a:prstGeom prst="roundRect">
            <a:avLst/>
          </a:prstGeom>
          <a:solidFill>
            <a:srgbClr val="E0EFFC"/>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marL="285750" lvl="0" indent="-285750" algn="just">
              <a:lnSpc>
                <a:spcPct val="150000"/>
              </a:lnSpc>
              <a:buFont typeface="Arial" panose="020B0604020202020204" pitchFamily="34" charset="0"/>
              <a:buChar char="•"/>
            </a:pPr>
            <a:r>
              <a:rPr lang="en-US" sz="1600" b="1" dirty="0">
                <a:solidFill>
                  <a:schemeClr val="tx1"/>
                </a:solidFill>
              </a:rPr>
              <a:t>Maintain Probability: </a:t>
            </a:r>
            <a:r>
              <a:rPr lang="en-ID" sz="1600" dirty="0">
                <a:solidFill>
                  <a:schemeClr val="tx1"/>
                </a:solidFill>
              </a:rPr>
              <a:t>With a total profit of 158.87K and a profit margin of 32.79%, the business should regularly monitor product-level margins to maintain overall profitability.</a:t>
            </a:r>
          </a:p>
          <a:p>
            <a:pPr marL="285750" lvl="0" indent="-285750" algn="just">
              <a:lnSpc>
                <a:spcPct val="150000"/>
              </a:lnSpc>
              <a:buFont typeface="Arial" panose="020B0604020202020204" pitchFamily="34" charset="0"/>
              <a:buChar char="•"/>
            </a:pPr>
            <a:r>
              <a:rPr lang="en-ID" sz="1600" b="1" dirty="0">
                <a:solidFill>
                  <a:schemeClr val="tx1"/>
                </a:solidFill>
              </a:rPr>
              <a:t>Increase Average Order Value: </a:t>
            </a:r>
            <a:r>
              <a:rPr lang="en-ID" sz="1600" dirty="0">
                <a:solidFill>
                  <a:schemeClr val="tx1"/>
                </a:solidFill>
              </a:rPr>
              <a:t>With an average order value of 242.28, the business can test product bundling, cross-selling, and personalized offers to increase revenue per transaction.</a:t>
            </a:r>
          </a:p>
          <a:p>
            <a:pPr marL="285750" lvl="0" indent="-285750" algn="just">
              <a:lnSpc>
                <a:spcPct val="150000"/>
              </a:lnSpc>
              <a:buFont typeface="Arial" panose="020B0604020202020204" pitchFamily="34" charset="0"/>
              <a:buChar char="•"/>
            </a:pPr>
            <a:r>
              <a:rPr lang="en-ID" sz="1600" b="1" dirty="0">
                <a:solidFill>
                  <a:schemeClr val="tx1"/>
                </a:solidFill>
              </a:rPr>
              <a:t>Strengthen customer retention: </a:t>
            </a:r>
            <a:r>
              <a:rPr lang="en-ID" sz="1600" dirty="0">
                <a:solidFill>
                  <a:schemeClr val="tx1"/>
                </a:solidFill>
              </a:rPr>
              <a:t>With 1,534 customers and 2,000 orders, the business should further examine repeat-purchase </a:t>
            </a:r>
            <a:r>
              <a:rPr lang="en-ID" sz="1600" dirty="0" err="1">
                <a:solidFill>
                  <a:schemeClr val="tx1"/>
                </a:solidFill>
              </a:rPr>
              <a:t>behavior</a:t>
            </a:r>
            <a:r>
              <a:rPr lang="en-ID" sz="1600" dirty="0">
                <a:solidFill>
                  <a:schemeClr val="tx1"/>
                </a:solidFill>
              </a:rPr>
              <a:t> and develop targeted customer retention strategies.</a:t>
            </a:r>
          </a:p>
          <a:p>
            <a:pPr marL="285750" lvl="0" indent="-285750" algn="just">
              <a:lnSpc>
                <a:spcPct val="150000"/>
              </a:lnSpc>
              <a:buFont typeface="Arial" panose="020B0604020202020204" pitchFamily="34" charset="0"/>
              <a:buChar char="•"/>
            </a:pPr>
            <a:r>
              <a:rPr lang="en-ID" sz="1600" b="1" dirty="0">
                <a:solidFill>
                  <a:schemeClr val="tx1"/>
                </a:solidFill>
              </a:rPr>
              <a:t>Optimize Product Performance: </a:t>
            </a:r>
            <a:r>
              <a:rPr lang="en-ID" sz="1600" dirty="0">
                <a:solidFill>
                  <a:schemeClr val="tx1"/>
                </a:solidFill>
              </a:rPr>
              <a:t>Use product-level sales and profit analysis to prioritize profitable products and investigate categories with lower margins.</a:t>
            </a:r>
          </a:p>
          <a:p>
            <a:pPr marL="285750" lvl="0" indent="-285750" algn="just">
              <a:lnSpc>
                <a:spcPct val="150000"/>
              </a:lnSpc>
              <a:buFont typeface="Arial" panose="020B0604020202020204" pitchFamily="34" charset="0"/>
              <a:buChar char="•"/>
            </a:pPr>
            <a:r>
              <a:rPr lang="en-ID" sz="1600" b="1" dirty="0">
                <a:solidFill>
                  <a:schemeClr val="tx1"/>
                </a:solidFill>
              </a:rPr>
              <a:t>Improve Regional Decision-Making: </a:t>
            </a:r>
            <a:r>
              <a:rPr lang="en-ID" sz="1600" dirty="0">
                <a:solidFill>
                  <a:schemeClr val="tx1"/>
                </a:solidFill>
              </a:rPr>
              <a:t>Use country- and region-level sales and profit comparisons to guide market-specific strategies and resource allocation.</a:t>
            </a:r>
          </a:p>
          <a:p>
            <a:pPr lvl="0" algn="just">
              <a:lnSpc>
                <a:spcPct val="150000"/>
              </a:lnSpc>
            </a:pPr>
            <a:endParaRPr lang="en-ID" sz="1600" dirty="0">
              <a:solidFill>
                <a:schemeClr val="tx1"/>
              </a:solidFill>
            </a:endParaRPr>
          </a:p>
        </p:txBody>
      </p:sp>
      <p:sp>
        <p:nvSpPr>
          <p:cNvPr id="9" name="Rectangle 8"/>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47472"/>
            <a:ext cx="2408160" cy="507831"/>
          </a:xfrm>
          <a:prstGeom prst="rect">
            <a:avLst/>
          </a:prstGeom>
          <a:noFill/>
        </p:spPr>
        <p:txBody>
          <a:bodyPr wrap="none">
            <a:spAutoFit/>
          </a:bodyPr>
          <a:lstStyle/>
          <a:p>
            <a:pPr>
              <a:defRPr sz="2700" b="1">
                <a:solidFill>
                  <a:srgbClr val="162F56"/>
                </a:solidFill>
              </a:defRPr>
            </a:pPr>
            <a:r>
              <a:rPr dirty="0"/>
              <a:t>1</a:t>
            </a:r>
            <a:r>
              <a:rPr lang="en-US" dirty="0"/>
              <a:t>1</a:t>
            </a:r>
            <a:r>
              <a:rPr dirty="0"/>
              <a:t>. </a:t>
            </a:r>
            <a:r>
              <a:rPr lang="en-ID" sz="2700" b="1" dirty="0">
                <a:solidFill>
                  <a:srgbClr val="162F56"/>
                </a:solidFill>
              </a:rPr>
              <a:t>Key Insights</a:t>
            </a:r>
          </a:p>
        </p:txBody>
      </p:sp>
      <p:sp>
        <p:nvSpPr>
          <p:cNvPr id="3" name="Rounded Rectangle 2"/>
          <p:cNvSpPr/>
          <p:nvPr/>
        </p:nvSpPr>
        <p:spPr>
          <a:xfrm>
            <a:off x="731520" y="1226481"/>
            <a:ext cx="10378440" cy="5021919"/>
          </a:xfrm>
          <a:prstGeom prst="roundRect">
            <a:avLst/>
          </a:prstGeom>
          <a:solidFill>
            <a:srgbClr val="FAE1EF"/>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marL="285750" lvl="0" indent="-285750" algn="just">
              <a:lnSpc>
                <a:spcPct val="150000"/>
              </a:lnSpc>
              <a:buFont typeface="Arial" panose="020B0604020202020204" pitchFamily="34" charset="0"/>
              <a:buChar char="•"/>
            </a:pPr>
            <a:r>
              <a:rPr lang="en-US" sz="1600" dirty="0">
                <a:solidFill>
                  <a:schemeClr val="tx1"/>
                </a:solidFill>
              </a:rPr>
              <a:t>Overall Sales Performance : The </a:t>
            </a:r>
            <a:r>
              <a:rPr lang="en-ID" sz="1600" dirty="0">
                <a:solidFill>
                  <a:schemeClr val="tx1"/>
                </a:solidFill>
              </a:rPr>
              <a:t>business generated total sales of 484.56K from 2,000 orders, with an average order value of 242.28.</a:t>
            </a:r>
          </a:p>
          <a:p>
            <a:pPr marL="285750" lvl="0" indent="-285750" algn="just">
              <a:lnSpc>
                <a:spcPct val="150000"/>
              </a:lnSpc>
              <a:buFont typeface="Arial" panose="020B0604020202020204" pitchFamily="34" charset="0"/>
              <a:buChar char="•"/>
            </a:pPr>
            <a:r>
              <a:rPr lang="en-ID" sz="1600" dirty="0">
                <a:solidFill>
                  <a:schemeClr val="tx1"/>
                </a:solidFill>
              </a:rPr>
              <a:t>Business Profitability: Total profit reached 158.87K, representing an overall profit margin of 32.79%. This indicates that approximately 32.79% of sales revenue was retained as profit.</a:t>
            </a:r>
          </a:p>
          <a:p>
            <a:pPr marL="285750" lvl="0" indent="-285750" algn="just">
              <a:lnSpc>
                <a:spcPct val="150000"/>
              </a:lnSpc>
              <a:buFont typeface="Arial" panose="020B0604020202020204" pitchFamily="34" charset="0"/>
              <a:buChar char="•"/>
            </a:pPr>
            <a:r>
              <a:rPr lang="en-ID" sz="1600" dirty="0">
                <a:solidFill>
                  <a:schemeClr val="tx1"/>
                </a:solidFill>
              </a:rPr>
              <a:t>Customer &amp; Order Performance: A total of 1,534 customers contributed to 2,000 orders, with 7,115 units sold across transactions.</a:t>
            </a:r>
          </a:p>
          <a:p>
            <a:pPr marL="285750" lvl="0" indent="-285750" algn="just">
              <a:lnSpc>
                <a:spcPct val="150000"/>
              </a:lnSpc>
              <a:buFont typeface="Arial" panose="020B0604020202020204" pitchFamily="34" charset="0"/>
              <a:buChar char="•"/>
            </a:pPr>
            <a:r>
              <a:rPr lang="en-ID" sz="1600" dirty="0">
                <a:solidFill>
                  <a:schemeClr val="tx1"/>
                </a:solidFill>
              </a:rPr>
              <a:t>Product Performance Analysis: Product-level comparisons enable the identification of high-revenue products and evaluation of whether strong sales performance is accompanied by strong profitability.</a:t>
            </a:r>
          </a:p>
          <a:p>
            <a:pPr marL="285750" lvl="0" indent="-285750" algn="just">
              <a:lnSpc>
                <a:spcPct val="150000"/>
              </a:lnSpc>
              <a:buFont typeface="Arial" panose="020B0604020202020204" pitchFamily="34" charset="0"/>
              <a:buChar char="•"/>
            </a:pPr>
            <a:r>
              <a:rPr lang="en-ID" sz="1600" dirty="0">
                <a:solidFill>
                  <a:schemeClr val="tx1"/>
                </a:solidFill>
              </a:rPr>
              <a:t>Regional &amp; Customer Segment Analysis: Regional and customer segment comparisons provide a basis for identifying differences in revenue contribution and profitability across markets and customer groups.</a:t>
            </a:r>
          </a:p>
          <a:p>
            <a:pPr lvl="0" algn="just">
              <a:lnSpc>
                <a:spcPct val="150000"/>
              </a:lnSpc>
            </a:pPr>
            <a:endParaRPr lang="en-ID" sz="1600" dirty="0">
              <a:solidFill>
                <a:schemeClr val="tx1"/>
              </a:solidFill>
            </a:endParaRPr>
          </a:p>
        </p:txBody>
      </p:sp>
      <p:sp>
        <p:nvSpPr>
          <p:cNvPr id="5" name="Rectangle 4"/>
          <p:cNvSpPr/>
          <p:nvPr/>
        </p:nvSpPr>
        <p:spPr>
          <a:xfrm>
            <a:off x="594360" y="6519672"/>
            <a:ext cx="10972800" cy="13716"/>
          </a:xfrm>
          <a:prstGeom prst="rect">
            <a:avLst/>
          </a:prstGeom>
          <a:solidFill>
            <a:srgbClr val="DCE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109960" y="6547104"/>
            <a:ext cx="457200" cy="182880"/>
          </a:xfrm>
          <a:prstGeom prst="rect">
            <a:avLst/>
          </a:prstGeom>
          <a:noFill/>
        </p:spPr>
        <p:txBody>
          <a:bodyPr wrap="none">
            <a:spAutoFit/>
          </a:bodyPr>
          <a:lstStyle/>
          <a:p>
            <a:pPr algn="r">
              <a:defRPr sz="800">
                <a:solidFill>
                  <a:srgbClr val="5F6978"/>
                </a:solidFill>
              </a:defRPr>
            </a:pPr>
            <a:r>
              <a:t>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F56"/>
        </a:solidFill>
        <a:effectLst/>
      </p:bgPr>
    </p:bg>
    <p:spTree>
      <p:nvGrpSpPr>
        <p:cNvPr id="1" name=""/>
        <p:cNvGrpSpPr/>
        <p:nvPr/>
      </p:nvGrpSpPr>
      <p:grpSpPr>
        <a:xfrm>
          <a:off x="0" y="0"/>
          <a:ext cx="0" cy="0"/>
          <a:chOff x="0" y="0"/>
          <a:chExt cx="0" cy="0"/>
        </a:xfrm>
      </p:grpSpPr>
      <p:sp>
        <p:nvSpPr>
          <p:cNvPr id="2" name="TextBox 1"/>
          <p:cNvSpPr txBox="1"/>
          <p:nvPr/>
        </p:nvSpPr>
        <p:spPr>
          <a:xfrm>
            <a:off x="2898705" y="1965960"/>
            <a:ext cx="7072385" cy="677108"/>
          </a:xfrm>
          <a:prstGeom prst="rect">
            <a:avLst/>
          </a:prstGeom>
          <a:noFill/>
        </p:spPr>
        <p:txBody>
          <a:bodyPr wrap="none">
            <a:spAutoFit/>
          </a:bodyPr>
          <a:lstStyle/>
          <a:p>
            <a:pPr>
              <a:defRPr sz="3800" b="1">
                <a:solidFill>
                  <a:srgbClr val="162F56"/>
                </a:solidFill>
              </a:defRPr>
            </a:pPr>
            <a:r>
              <a:rPr lang="en-US" dirty="0">
                <a:solidFill>
                  <a:schemeClr val="bg1"/>
                </a:solidFill>
              </a:rPr>
              <a:t>Global E-Commerce Sales Analysis</a:t>
            </a:r>
          </a:p>
        </p:txBody>
      </p:sp>
      <p:sp>
        <p:nvSpPr>
          <p:cNvPr id="3" name="TextBox 2"/>
          <p:cNvSpPr txBox="1"/>
          <p:nvPr/>
        </p:nvSpPr>
        <p:spPr>
          <a:xfrm>
            <a:off x="1097280" y="2971800"/>
            <a:ext cx="10058400" cy="640080"/>
          </a:xfrm>
          <a:prstGeom prst="rect">
            <a:avLst/>
          </a:prstGeom>
          <a:noFill/>
        </p:spPr>
        <p:txBody>
          <a:bodyPr wrap="none">
            <a:spAutoFit/>
          </a:bodyPr>
          <a:lstStyle/>
          <a:p>
            <a:pPr algn="ctr">
              <a:defRPr sz="2000">
                <a:solidFill>
                  <a:srgbClr val="DCE6F5"/>
                </a:solidFill>
              </a:defRPr>
            </a:pPr>
            <a:r>
              <a:t>Python • Power BI • Excel</a:t>
            </a:r>
          </a:p>
        </p:txBody>
      </p:sp>
      <p:sp>
        <p:nvSpPr>
          <p:cNvPr id="4" name="TextBox 3"/>
          <p:cNvSpPr txBox="1"/>
          <p:nvPr/>
        </p:nvSpPr>
        <p:spPr>
          <a:xfrm>
            <a:off x="1097280" y="4937760"/>
            <a:ext cx="10058400" cy="457200"/>
          </a:xfrm>
          <a:prstGeom prst="rect">
            <a:avLst/>
          </a:prstGeom>
          <a:noFill/>
        </p:spPr>
        <p:txBody>
          <a:bodyPr wrap="none">
            <a:spAutoFit/>
          </a:bodyPr>
          <a:lstStyle/>
          <a:p>
            <a:pPr algn="ctr">
              <a:defRPr sz="2200" b="1">
                <a:solidFill>
                  <a:srgbClr val="FFFFFF"/>
                </a:solidFill>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TotalTime>
  <Words>1235</Words>
  <Application>Microsoft Office PowerPoint</Application>
  <PresentationFormat>Widescreen</PresentationFormat>
  <Paragraphs>140</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deliaanjani</cp:lastModifiedBy>
  <cp:revision>5</cp:revision>
  <dcterms:created xsi:type="dcterms:W3CDTF">2013-01-27T09:14:16Z</dcterms:created>
  <dcterms:modified xsi:type="dcterms:W3CDTF">2026-10-11T12:24:37Z</dcterms:modified>
  <cp:category/>
</cp:coreProperties>
</file>